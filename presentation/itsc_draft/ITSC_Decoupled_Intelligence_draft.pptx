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Monolithic</c:v>
                </c:pt>
              </c:strCache>
            </c:strRef>
          </c:tx>
          <c:spPr>
            <a:solidFill>
              <a:srgbClr val="8294AB"/>
            </a:solidFill>
            <a:ln>
              <a:solidFill>
                <a:srgbClr val="8294AB"/>
              </a:solidFill>
            </a:ln>
          </c:spPr>
          <c:cat>
            <c:strRef>
              <c:f>Sheet1!$A$2:$A$4</c:f>
              <c:strCache>
                <c:ptCount val="3"/>
                <c:pt idx="0">
                  <c:v>L1 · Basic</c:v>
                </c:pt>
                <c:pt idx="1">
                  <c:v>L2 · Intermediate</c:v>
                </c:pt>
                <c:pt idx="2">
                  <c:v>L3 · Complex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</c:v>
                </c:pt>
              </c:strCache>
            </c:strRef>
          </c:tx>
          <c:spPr>
            <a:solidFill>
              <a:srgbClr val="007F78"/>
            </a:solidFill>
            <a:ln>
              <a:solidFill>
                <a:srgbClr val="007F78"/>
              </a:solidFill>
            </a:ln>
          </c:spPr>
          <c:cat>
            <c:strRef>
              <c:f>Sheet1!$A$2:$A$4</c:f>
              <c:strCache>
                <c:ptCount val="3"/>
                <c:pt idx="0">
                  <c:v>L1 · Basic</c:v>
                </c:pt>
                <c:pt idx="1">
                  <c:v>L2 · Intermediate</c:v>
                </c:pt>
                <c:pt idx="2">
                  <c:v>L3 · Complex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100</c:v>
                </c:pt>
                <c:pt idx="2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500" b="1">
                  <a:solidFill>
                    <a:srgbClr val="10243A"/>
                  </a:solidFill>
                  <a:latin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E1EB"/>
            </a:solidFill>
          </a:ln>
        </c:spPr>
        <c:txPr>
          <a:bodyPr/>
          <a:lstStyle/>
          <a:p>
            <a:pPr>
              <a:defRPr sz="1500">
                <a:solidFill>
                  <a:srgbClr val="10243A"/>
                </a:solidFill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 w="8255">
              <a:solidFill>
                <a:srgbClr val="D8E1EB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5677B"/>
                </a:solidFill>
                <a:latin typeface="Lato"/>
              </a:defRPr>
            </a:pPr>
          </a:p>
        </c:txPr>
        <c:crossAx val="-2068027336"/>
        <c:crosses val="autoZero"/>
        <c:majorUnit val="25.0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400">
          <a:solidFill>
            <a:srgbClr val="55677B"/>
          </a:solidFill>
          <a:latin typeface="Lato"/>
        </a:defRPr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Monolithic</c:v>
                </c:pt>
              </c:strCache>
            </c:strRef>
          </c:tx>
          <c:spPr>
            <a:solidFill>
              <a:srgbClr val="8294AB"/>
            </a:solidFill>
            <a:ln>
              <a:solidFill>
                <a:srgbClr val="8294AB"/>
              </a:solidFill>
            </a:ln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8529.2</c:v>
                </c:pt>
                <c:pt idx="1">
                  <c:v>9690.3</c:v>
                </c:pt>
                <c:pt idx="2">
                  <c:v>11404.7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</c:v>
                </c:pt>
              </c:strCache>
            </c:strRef>
          </c:tx>
          <c:spPr>
            <a:solidFill>
              <a:srgbClr val="007F78"/>
            </a:solidFill>
            <a:ln>
              <a:solidFill>
                <a:srgbClr val="007F78"/>
              </a:solidFill>
            </a:ln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4845.5</c:v>
                </c:pt>
                <c:pt idx="1">
                  <c:v>5310.1</c:v>
                </c:pt>
                <c:pt idx="2">
                  <c:v>6028.7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10243A"/>
                  </a:solidFill>
                  <a:latin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E1EB"/>
            </a:solidFill>
          </a:ln>
        </c:spPr>
        <c:txPr>
          <a:bodyPr/>
          <a:lstStyle/>
          <a:p>
            <a:pPr>
              <a:defRPr sz="1500">
                <a:solidFill>
                  <a:srgbClr val="10243A"/>
                </a:solidFill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0.0"/>
          <c:min val="0.0"/>
        </c:scaling>
        <c:delete val="0"/>
        <c:axPos val="l"/>
        <c:majorGridlines>
          <c:spPr>
            <a:ln w="8255">
              <a:solidFill>
                <a:srgbClr val="D8E1EB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5677B"/>
                </a:solidFill>
                <a:latin typeface="Lato"/>
              </a:defRPr>
            </a:pPr>
          </a:p>
        </c:txPr>
        <c:crossAx val="-2068027336"/>
        <c:crosses val="autoZero"/>
        <c:majorUnit val="4000.0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400">
          <a:solidFill>
            <a:srgbClr val="55677B"/>
          </a:solidFill>
          <a:latin typeface="Lato"/>
        </a:defRPr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Monolithic</c:v>
                </c:pt>
              </c:strCache>
            </c:strRef>
          </c:tx>
          <c:spPr>
            <a:solidFill>
              <a:srgbClr val="8294AB"/>
            </a:solidFill>
            <a:ln>
              <a:solidFill>
                <a:srgbClr val="8294AB"/>
              </a:solidFill>
            </a:ln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19.8</c:v>
                </c:pt>
                <c:pt idx="1">
                  <c:v>22.7</c:v>
                </c:pt>
                <c:pt idx="2">
                  <c:v>41.4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</c:v>
                </c:pt>
              </c:strCache>
            </c:strRef>
          </c:tx>
          <c:spPr>
            <a:solidFill>
              <a:srgbClr val="007F78"/>
            </a:solidFill>
            <a:ln>
              <a:solidFill>
                <a:srgbClr val="007F78"/>
              </a:solidFill>
            </a:ln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6.2</c:v>
                </c:pt>
                <c:pt idx="1">
                  <c:v>7.3</c:v>
                </c:pt>
                <c:pt idx="2">
                  <c:v>8.3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300" b="1">
                  <a:solidFill>
                    <a:srgbClr val="10243A"/>
                  </a:solidFill>
                  <a:latin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E1EB"/>
            </a:solidFill>
          </a:ln>
        </c:spPr>
        <c:txPr>
          <a:bodyPr/>
          <a:lstStyle/>
          <a:p>
            <a:pPr>
              <a:defRPr sz="1500">
                <a:solidFill>
                  <a:srgbClr val="10243A"/>
                </a:solidFill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>
          <c:spPr>
            <a:ln w="8255">
              <a:solidFill>
                <a:srgbClr val="D8E1EB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5677B"/>
                </a:solidFill>
                <a:latin typeface="Lato"/>
              </a:defRPr>
            </a:pPr>
          </a:p>
        </c:txPr>
        <c:crossAx val="-2068027336"/>
        <c:crosses val="autoZero"/>
        <c:majorUnit val="10.0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400">
          <a:solidFill>
            <a:srgbClr val="55677B"/>
          </a:solidFill>
          <a:latin typeface="Lato"/>
        </a:defRPr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L2 and L3</c:v>
                </c:pt>
              </c:strCache>
            </c:strRef>
          </c:tx>
          <c:spPr>
            <a:solidFill>
              <a:srgbClr val="007F78"/>
            </a:solidFill>
            <a:ln w="38100">
              <a:solidFill>
                <a:srgbClr val="007F78"/>
              </a:solidFill>
            </a:ln>
          </c:spPr>
          <c:marker>
            <c:symbol val="circle"/>
            <c:size val="9"/>
            <c:spPr>
              <a:solidFill>
                <a:srgbClr val="007F78"/>
              </a:solidFill>
              <a:ln>
                <a:solidFill>
                  <a:srgbClr val="007F78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0 repairs</c:v>
                </c:pt>
                <c:pt idx="1">
                  <c:v>1 repair</c:v>
                </c:pt>
                <c:pt idx="2">
                  <c:v>2 repairs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50</c:v>
                </c:pt>
                <c:pt idx="2">
                  <c:v>50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sz="1500" b="1">
                  <a:solidFill>
                    <a:srgbClr val="10243A"/>
                  </a:solidFill>
                  <a:latin typeface="Lat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E1EB"/>
            </a:solidFill>
          </a:ln>
        </c:spPr>
        <c:txPr>
          <a:bodyPr/>
          <a:lstStyle/>
          <a:p>
            <a:pPr>
              <a:defRPr sz="1500">
                <a:solidFill>
                  <a:srgbClr val="10243A"/>
                </a:solidFill>
                <a:latin typeface="Lato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 w="8255">
              <a:solidFill>
                <a:srgbClr val="D8E1EB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5677B"/>
                </a:solidFill>
                <a:latin typeface="Lato"/>
              </a:defRPr>
            </a:pPr>
          </a:p>
        </c:txPr>
        <c:crossAx val="2118791784"/>
        <c:crosses val="autoZero"/>
        <c:majorUnit val="25.0"/>
      </c:valAx>
      <c:spPr>
        <a:noFill/>
        <a:ln>
          <a:noFill/>
        </a:ln>
      </c:spPr>
    </c:plotArea>
    <c:plotVisOnly val="1"/>
    <c:dispBlanksAs val="gap"/>
    <c:showDLblsOverMax val="0"/>
  </c:chart>
  <c:txPr>
    <a:bodyPr/>
    <a:lstStyle/>
    <a:p>
      <a:pPr>
        <a:defRPr sz="1400">
          <a:solidFill>
            <a:srgbClr val="55677B"/>
          </a:solidFill>
          <a:latin typeface="Lato"/>
        </a:defRPr>
      </a:pPr>
      <a:endParaRPr lang="en-US"/>
    </a:p>
  </c:txPr>
  <c:externalData r:id="rId1">
    <c:autoUpdate val="0"/>
  </c:externalData>
  <c:spPr>
    <a:noFill/>
    <a:ln>
      <a:noFill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Decoupled Intelligence</a:t>
            </a:r>
          </a:p>
          <a:p>
            <a:pPr>
              <a:defRPr sz="1200">
                <a:latin typeface="Noto Sans CJK SC"/>
              </a:defRPr>
            </a:pPr>
            <a:r>
              <a:t>建议时长：35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开场先讲研究问题：我们希望用户用自然语言描述一个交通场景，系统就能在 SUMO 中完成建网、生成需求、运行和指标分析。真正的难点不是生成某一份 XML，而是让整个多步骤流程保持一致。这篇工作的核心是把推理职责拆开，并把文件状态交给明确的编排层管理。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Let me start with a traffic question that sounds simple, but requires a surprisingly long workflow.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论文首页：标题、作者、单位；Sec. 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One traffic question becomes five dependent tasks</a:t>
            </a:r>
          </a:p>
          <a:p>
            <a:pPr>
              <a:defRPr sz="1200">
                <a:latin typeface="Noto Sans CJK SC"/>
              </a:defRPr>
            </a:pPr>
            <a:r>
              <a:t>建议时长：55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用波士顿封路的例子引出问题。对使用者来说，只有一句话；对系统来说，需要先提取路网，再完成封路，然后在修改后的网络上生成每小时 800 辆车的需求，接着运行，最后提取平均等待时间。强调顺序：如果先生成路线再删路，后面就可能出现无效路径。右侧只是示意图，不是波士顿真实地图，也不是实验截图。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challenge is keeping these dependent steps consistent from beginning to end.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I；Fig. 3 请求的简化示例。街道图为演示示意。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A single context must remember every dependency</a:t>
            </a:r>
          </a:p>
          <a:p>
            <a:pPr>
              <a:defRPr sz="1200">
                <a:latin typeface="Noto Sans CJK SC"/>
              </a:defRPr>
            </a:pPr>
            <a:r>
              <a:t>建议时长：50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这里说的是论文实际比较的单体 ReAct 基线。它把所有工具和整个历史放进同一上下文，既要理解任务，又要记文件位置，还要处理封路、路由和重试。论文对失败日志的分析指出路径引用错误与推理漂移。参数不一致也是设计动机之一。不要把这一页扩大成“所有单智能体系统都会失败”的结论；问题是这种具体组织方式面对长流程时的可靠性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Our response is to separate the reasoning roles and make the execution state explicit.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IV-A 基线定义；Sec. IV-C / IV-E 失败分析；Sec. I 参数一致性动机。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Separate reasoning roles. Make state explicit.</a:t>
            </a:r>
          </a:p>
          <a:p>
            <a:pPr>
              <a:defRPr sz="1200">
                <a:latin typeface="Noto Sans CJK SC"/>
              </a:defRPr>
            </a:pPr>
            <a:r>
              <a:t>建议时长：80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先从上到下介绍，不要逐字读框。Planner 负责把全局目标拆成有顺序的步骤。Orchestrator 负责执行协调、校验和状态传递；SQLite 保存状态、文件和依赖。MCP 提供统一的工具接口。底部是五个工人角色：Builder 建网、Modifier 修改路网或信号、Demand 生成需求、Runner 执行、Analyst 计算指标并反馈。因此总共是一个 Planner 加五种 worker 角色；Orchestrator 是编排组件。虽然图里并排画了五个角色，论文流程按照依赖顺序执行，不是在并行生成路网和路线。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key handover is the network artifact: every downstream step must use the validated topology.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III-A 至 III-C；Fig. 2。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讲者核对提示（不在投影页显示）</a:t>
            </a:r>
          </a:p>
          <a:p>
            <a:pPr>
              <a:defRPr sz="1200">
                <a:latin typeface="Noto Sans CJK SC"/>
              </a:defRPr>
            </a:pPr>
            <a:r>
              <a:t>明确区分：MCP 是工具协议；文件状态持久化与依赖校验由 Orchestrator 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Route generation uses the validated network</a:t>
            </a:r>
          </a:p>
          <a:p>
            <a:pPr>
              <a:defRPr sz="1200">
                <a:latin typeface="Noto Sans CJK SC"/>
              </a:defRPr>
            </a:pPr>
            <a:r>
              <a:t>建议时长：60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用一个具体文件交接解释为什么需要状态管理。Builder 得到原始路网，Modifier 执行封路后得到更新路网。Demand 必须拿到更新后的文件，Runner 再把这份路网和对应路线一起放进配置。这样文件引用不是靠模型从聊天记录里回忆，而是由状态仓库明确提供。这里 v1/v2 只是讲解用的逻辑状态标签；论文描述 Modifier 会更新路网 artifact，并没有声称实现了完整文件版本控制。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This dependency rule also appears in how the Planner translates a user request.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III-A 状态与依赖；Sec. III-C Modifier、Demand、Runner。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讲者核对提示（不在投影页显示）</a:t>
            </a:r>
          </a:p>
          <a:p>
            <a:pPr>
              <a:defRPr sz="1200">
                <a:latin typeface="Noto Sans CJK SC"/>
              </a:defRPr>
            </a:pPr>
            <a:r>
              <a:t>v1/v2 是演示标签，不代表实际文件名或版本控制功能。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The Planner turns intent into ordered contracts</a:t>
            </a:r>
          </a:p>
          <a:p>
            <a:pPr>
              <a:defRPr sz="1200">
                <a:latin typeface="Noto Sans CJK SC"/>
              </a:defRPr>
            </a:pPr>
            <a:r>
              <a:t>建议时长：60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沿着这五行快速讲一次：先建 Boston 路网，随后执行 Boylston Street 封路，再根据 Newbury Street 到 Beacon Street 的请求生成每小时 800 辆车的流，最后运行并提取平均等待时间。Planner 的每一步只激活一个角色，并明确必要的输入参数。这个例子展示的是任务分解方式，不是新增的实际运行演示。街道名称需要经过工具解析与验证，不能随便杜撰 edge ID。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Even with explicit contracts, execution can still fail. That is where feedback enters the workflow.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Fig. 3；Appendix II 的单角色步骤约束；Appendix III。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讲者核对提示（不在投影页显示）</a:t>
            </a:r>
          </a:p>
          <a:p>
            <a:pPr>
              <a:defRPr sz="1200">
                <a:latin typeface="Noto Sans CJK SC"/>
              </a:defRPr>
            </a:pPr>
            <a:r>
              <a:t>原 Fig. 3 出现 1.5 km、1.5 miles 和 distance_miles=0.932056788 的混合表述。本页省略该尺度字段，避免把原图单位不一致带入主讲。若补现场 demo，先统一尺度含义与单位。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Two feedback loops address two different problems</a:t>
            </a:r>
          </a:p>
          <a:p>
            <a:pPr>
              <a:defRPr sz="1200">
                <a:latin typeface="Noto Sans CJK SC"/>
              </a:defRPr>
            </a:pPr>
            <a:r>
              <a:t>建议时长：65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明确区分两条返回路径。第一条是执行级错误，例如文件缺失或路线不可达，系统把结构化错误送回 Planner 重新规划。第二条是在仿真执行有效之后，Analyst 检查指标是否满足用户目标；未达到目标则反馈给 Planner 调整。循环有次数上限。这里展示的是论文提出的双层设计；后面的定量实验主要测的是修复预算对任务成功率的影响，不能把它说成已经量化证明了交通 KPI 的最优性或收敛性。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We evaluate the system first as an execution architecture, and then as a repair mechanism.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III-B；Algorithm 1；Sec. IV-D。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30 tasks test increasing dependency complexity</a:t>
            </a:r>
          </a:p>
          <a:p>
            <a:pPr>
              <a:defRPr sz="1200">
                <a:latin typeface="Noto Sans CJK SC"/>
              </a:defRPr>
            </a:pPr>
            <a:r>
              <a:t>建议时长：55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实验使用 SUMO 1.21.0 和论文所写的 Qwen3-30B-Coder，共 30 个任务。L1 是基本建网和定性需求；L2 需要特定起终点与参数对齐；L3 增加生成需求前的路网结构修改。评价三个量：成功率表示配置有效且运行没有物理错误；平均 token 是全流程输入输出消耗；Time-to-Insight 是从用户输入到拿到第一个有效 KPI 的总墙钟时间。不要把 TTI 说成纯 SUMO 内核运行时间，也不要把成功率说成所有交通目标都已达成。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largest reliability difference appears in the most complex tasks.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IV-A / IV-B；任务总数为 30，正文未明确给出各层级样本量。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讲者核对提示（不在投影页显示）</a:t>
            </a:r>
          </a:p>
          <a:p>
            <a:pPr>
              <a:defRPr sz="1200">
                <a:latin typeface="Noto Sans CJK SC"/>
              </a:defRPr>
            </a:pPr>
            <a:r>
              <a:t>沿用论文模型名称，未自行改写成另一模型版本。论文未完整报告硬件、推理服务和计时纳入项；绝对时延应限制在所报告设置内解释。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Complex-task success rises from 70% to 90%</a:t>
            </a:r>
          </a:p>
          <a:p>
            <a:pPr>
              <a:defRPr sz="1200">
                <a:latin typeface="Noto Sans CJK SC"/>
              </a:defRPr>
            </a:pPr>
            <a:r>
              <a:t>建议时长：70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先指右侧：在最复杂的 L3，成功率从 70% 提升到 90%，是增加 20 个百分点。然后带观众看左边完整结果：L2 两者都是 100%；L1 单体是 100%，多智能体是 90%。因此这不是每种任务都全面胜出的结果，而是优势主要体现在依赖复杂的任务。可以补充论文失败日志提示路径引用错误与推理漂移，但不要把归因说成独立受控消融已经证明。样本较小且表中没有置信区间，不使用“统计显著”措辞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reliability gain is accompanied by lower token use and a shorter time to the first valid result.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Table I；Sec. IV-C。+20 pp = 90% − 70%。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讲者核对提示（不在投影页显示）</a:t>
            </a:r>
          </a:p>
          <a:p>
            <a:pPr>
              <a:defRPr sz="1200">
                <a:latin typeface="Noto Sans CJK SC"/>
              </a:defRPr>
            </a:pPr>
            <a:r>
              <a:t>这是整体架构对比，不能拆成“单独增加 Planner / MCP / state 各贡献多少”。L1 降低不能直接用 Table II 的 overthinking 现象作未经验证的因果解释。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Fewer tokens and a shorter path to the first KPI</a:t>
            </a:r>
          </a:p>
          <a:p>
            <a:pPr>
              <a:defRPr sz="1200">
                <a:latin typeface="Noto Sans CJK SC"/>
              </a:defRPr>
            </a:pPr>
            <a:r>
              <a:t>建议时长：70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先讲左图：三个难度下 token 都下降，L3 从 11,404.7 到 6,028.7，减少 47.1%，比直接说“减半”更精确。右图是 Time-to-Insight，L3 从 41.4 秒到 8.3 秒，约五倍加速，也就是时间降低约 80%。论文的解释是角色只接收与子任务有关的上下文，减少冗余推理与无效重试。强调这些是该实验配置下的报告均值，不是对所有模型和部署的速度保证。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Next, we look separately at what happens when the system is allowed to repair its own errors.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Table I。L3 token reduction = (11404.7−6028.7)/11404.7 = 47.14%；TTI ratio = 41.4/8.3 = 4.99。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讲者核对提示（不在投影页显示）</a:t>
            </a:r>
          </a:p>
          <a:p>
            <a:pPr>
              <a:defRPr sz="1200">
                <a:latin typeface="Noto Sans CJK SC"/>
              </a:defRPr>
            </a:pPr>
            <a:r>
              <a:t>图中 token 标签为四舍五入整数；完整小数见备用页 B1。TTI 不等同于纯仿真运行耗时。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One repair attempt helps; a second adds cost</a:t>
            </a:r>
          </a:p>
          <a:p>
            <a:pPr>
              <a:defRPr sz="1200">
                <a:latin typeface="Noto Sans CJK SC"/>
              </a:defRPr>
            </a:pPr>
            <a:r>
              <a:t>建议时长：65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先说明这是另一个修复预算实验，不能与上一页的 90% 成功率直接拼成同一条提升链。Table II 中，L2 和 L3 都从不修复的 30% 提高到一次修复的 50%；第二次修复仍然是 50%。右侧展示代价：L3 token 从约 3,982 增至 6,610，再到 9,214。因此在这些任务里，一次修复已恢复大部分可恢复案例，再增加预算主要增加开销。L1 则出现 90、80、90 的波动，论文提到有时会把无车辆等良性警告当成失败。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These results also define the limits of what we can claim from this study.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Table II；Sec. IV-D。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讲者核对提示（不在投影页显示）</a:t>
            </a:r>
          </a:p>
          <a:p>
            <a:pPr>
              <a:defRPr sz="1200">
                <a:latin typeface="Noto Sans CJK SC"/>
              </a:defRPr>
            </a:pPr>
            <a:r>
              <a:t>论文未充分解释 Table I 与 Table II 各项实验配置的对应关系。主讲只做各表内部比较；答辩前应核对任务子集、初始状态、prompt、修复策略与统计口径。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What this evidence establishes—and what remains open</a:t>
            </a:r>
          </a:p>
          <a:p>
            <a:pPr>
              <a:defRPr sz="1200">
                <a:latin typeface="Noto Sans CJK SC"/>
              </a:defRPr>
            </a:pPr>
            <a:r>
              <a:t>建议时长：45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这一页主动划清结论边界。证据支持复杂流程的执行可靠性和效率改善，也支持有限修复预算带来恢复收益。但总共只有 30 个任务，实验只评估了一个 LLM backbone。所谓角色消融实际上是单体与完整框架比较，并未逐一隔离 Planner、状态仓库和角色专门化的贡献。双环架构包含 KPI 反馈，但没有报告 KPI 优化的收敛或最优性曲线。页底列的是基于这些局限提出的后续验证建议，不是假装论文已完成的实验。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main takeaway is a system design principle for reliable traffic simulation workflows.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IV-A、Table I–II、Sec. V；组件归因和 KPI 定量证据范围是对已报告内容的归纳。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Reliable automation needs explicit coordination</a:t>
            </a:r>
          </a:p>
          <a:p>
            <a:pPr>
              <a:defRPr sz="1200">
                <a:latin typeface="Noto Sans CJK SC"/>
              </a:defRPr>
            </a:pPr>
            <a:r>
              <a:t>建议时长：40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用三点收束：专门化角色减少上下文负担，持久化 artifact 保证跨步骤交接，有限反馈帮助恢复执行。最后只重复最关键的 L3 数字：90% 成功率，token 约减少 47%，Time-to-Insight 约五倍加速。再把数字与交通应用连接：目标是让自然语言需求变成可执行、可检查的 SUMO 工作流，降低场景搭建和迭代的门槛。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Thank you. I would be happy to take your questions.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III；Table I L3；Sec. 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Thank you / Q&amp;A</a:t>
            </a:r>
          </a:p>
          <a:p>
            <a:pPr>
              <a:defRPr sz="1200">
                <a:latin typeface="Noto Sans CJK SC"/>
              </a:defRPr>
            </a:pPr>
            <a:r>
              <a:t>建议时长：10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感谢听众并邀请提问。备用页依次是：B1 完整架构对比结果、B2 完整修复预算结果、B3 角色和文件契约、B4 常见问题与回答边界。若时间已到，停在此页，不继续讲备用页。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Thank you for your attention. I would be happy to take your questions.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论文作者与单位；Acknowledgment。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B1 — Full architecture comparison</a:t>
            </a:r>
          </a:p>
          <a:p>
            <a:pPr>
              <a:defRPr sz="1200">
                <a:latin typeface="Noto Sans CJK SC"/>
              </a:defRPr>
            </a:pPr>
            <a:r>
              <a:t>建议时长：0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备用页，按提问定位数据。若有人问简单任务表现，明确回答 L1 成功率是单体 100%、多智能体 90%；不能忽略这一点。若问“每个角色分别贡献多少”，说明该表对比的是完整系统与单体基线，并没有单独去掉某个角色的实验。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This table compares the two complete architectures; it does not isolate each component.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Table I，逐项转录。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B2 — Full repair-budget experiment</a:t>
            </a:r>
          </a:p>
          <a:p>
            <a:pPr>
              <a:defRPr sz="1200">
                <a:latin typeface="Noto Sans CJK SC"/>
              </a:defRPr>
            </a:pPr>
            <a:r>
              <a:t>建议时长：0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若被问两张表的成功率为何不同，诚实说明论文将其作为两个实验报告，当前稿件没有充分展开配置对应关系；不能未经核对就归因于更难任务、不同 seed 或另一个模型。展示这一表时只比较 0、1、2 次修复预算。另一个重点是最大修复次数，不表示每个任务都实际用了全部次数。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repair budget is a maximum number of attempts, and these comparisons are within Table II.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Table II；Sec. IV-D。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讲者核对提示（不在投影页显示）</a:t>
            </a:r>
          </a:p>
          <a:p>
            <a:pPr>
              <a:defRPr sz="1200">
                <a:latin typeface="Noto Sans CJK SC"/>
              </a:defRPr>
            </a:pPr>
            <a:r>
              <a:t>答辩前优先从原始运行记录补齐两组实验差异，不能现场推测。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B3 — Worker contracts</a:t>
            </a:r>
          </a:p>
          <a:p>
            <a:pPr>
              <a:defRPr sz="1200">
                <a:latin typeface="Noto Sans CJK SC"/>
              </a:defRPr>
            </a:pPr>
            <a:r>
              <a:t>建议时长：0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角色输出遵循结构化 action / params 等字段。Planner 每一步仅激活一个 agent_prompt；没有请求修改就跳过 Modifier。这里是简化的输入输出契约，不是完整 API 文档。对多智能体数量的提问，回答一个 Planner 加五种 worker 角色，Orchestrator 管理状态和调度。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The contracts reduce how much each worker has to infer from the conversation history.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III-C；Appendix II–III。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B4 — Likely questions</a:t>
            </a:r>
          </a:p>
          <a:p>
            <a:pPr>
              <a:defRPr sz="1200">
                <a:latin typeface="Noto Sans CJK SC"/>
              </a:defRPr>
            </a:pPr>
            <a:r>
              <a:t>建议时长：0 秒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中文讲稿提示</a:t>
            </a:r>
          </a:p>
          <a:p>
            <a:pPr>
              <a:defRPr sz="1200">
                <a:latin typeface="Noto Sans CJK SC"/>
              </a:defRPr>
            </a:pPr>
            <a:r>
              <a:t>这一页用于准备答辩，不需主动展开。回答采用“本研究比较了什么、证据支持到哪一步”的结构。可以认可更强单体、有状态单体或确定性工作流是值得增加的对照，但不声称已有这些实验。不要把 MCP 说成会自动保证所有正确性；也不要说两次修复无效适用于所有场景。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英文衔接句</a:t>
            </a:r>
          </a:p>
          <a:p>
            <a:pPr>
              <a:defRPr sz="1200">
                <a:latin typeface="Noto Sans CJK SC"/>
              </a:defRPr>
            </a:pPr>
            <a:r>
              <a:t>Our strongest claim is about the reported workflow reliability and efficiency under the evaluated setup.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来源</a:t>
            </a:r>
          </a:p>
          <a:p>
            <a:pPr>
              <a:defRPr sz="1200">
                <a:latin typeface="Noto Sans CJK SC"/>
              </a:defRPr>
            </a:pPr>
            <a:r>
              <a:t>Sec. III–V；Table I–II。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64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4D7C5"/>
                </a:solidFill>
                <a:latin typeface="Lato"/>
              </a:defRPr>
            </a:pPr>
            <a:r>
              <a:t>ITSC  /  ORAL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FFFFFF"/>
                </a:solidFill>
                <a:latin typeface="Lato"/>
              </a:defRPr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9BCD0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A9BCD0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15568"/>
            <a:ext cx="736092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4900" b="1">
                <a:solidFill>
                  <a:srgbClr val="FFFFFF"/>
                </a:solidFill>
                <a:latin typeface="Lato"/>
              </a:defRPr>
            </a:pPr>
            <a:r>
              <a:t>Decoupled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4900" b="1">
                <a:solidFill>
                  <a:srgbClr val="FFFFFF"/>
                </a:solidFill>
                <a:latin typeface="Lato"/>
              </a:defRPr>
            </a:pPr>
            <a:r>
              <a:t>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935224"/>
            <a:ext cx="813816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600" b="0">
                <a:solidFill>
                  <a:srgbClr val="FFFFFF"/>
                </a:solidFill>
                <a:latin typeface="Lato"/>
              </a:defRPr>
            </a:pPr>
            <a:r>
              <a:t>A Multi-Agent LLM Framework for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600" b="0">
                <a:solidFill>
                  <a:srgbClr val="FFFFFF"/>
                </a:solidFill>
                <a:latin typeface="Lato"/>
              </a:defRPr>
            </a:pPr>
            <a:r>
              <a:t>Controllable Traffic Scenario Generation in SUMO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4434840"/>
            <a:ext cx="475488" cy="41148"/>
          </a:xfrm>
          <a:prstGeom prst="rect">
            <a:avLst/>
          </a:prstGeom>
          <a:solidFill>
            <a:srgbClr val="64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64024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Lato"/>
              </a:defRPr>
            </a:pPr>
            <a:r>
              <a:t>Shuyang Li  ·  Ruimin 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340096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A9BCD0"/>
                </a:solidFill>
                <a:latin typeface="Lato"/>
              </a:defRPr>
            </a:pPr>
            <a:r>
              <a:t>Civil and Environmental Engineering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A9BCD0"/>
                </a:solidFill>
                <a:latin typeface="Lato"/>
              </a:defRPr>
            </a:pPr>
            <a:r>
              <a:t>Rensselaer Polytechnic Institute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08592" y="1097280"/>
            <a:ext cx="1389888" cy="475488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842248" y="1097280"/>
            <a:ext cx="466344" cy="1389888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0058400" y="1572768"/>
            <a:ext cx="640080" cy="1234440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42248" y="2487168"/>
            <a:ext cx="1216152" cy="320040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2807208"/>
            <a:ext cx="960120" cy="960120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42248" y="2487168"/>
            <a:ext cx="73152" cy="1874520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915400" y="2807208"/>
            <a:ext cx="1143000" cy="1554480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213848" y="3767328"/>
            <a:ext cx="804672" cy="1380744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15400" y="4361688"/>
            <a:ext cx="1298448" cy="786384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213848" y="5148072"/>
            <a:ext cx="1078992" cy="548640"/>
          </a:xfrm>
          <a:prstGeom prst="line">
            <a:avLst/>
          </a:prstGeom>
          <a:ln w="6350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842248" y="1097280"/>
            <a:ext cx="466344" cy="1389888"/>
          </a:xfrm>
          <a:prstGeom prst="line">
            <a:avLst/>
          </a:prstGeom>
          <a:ln w="31750">
            <a:solidFill>
              <a:srgbClr val="64D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42248" y="2487168"/>
            <a:ext cx="1216152" cy="320040"/>
          </a:xfrm>
          <a:prstGeom prst="line">
            <a:avLst/>
          </a:prstGeom>
          <a:ln w="31750">
            <a:solidFill>
              <a:srgbClr val="64D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915400" y="2807208"/>
            <a:ext cx="1143000" cy="1554480"/>
          </a:xfrm>
          <a:prstGeom prst="line">
            <a:avLst/>
          </a:prstGeom>
          <a:ln w="31750">
            <a:solidFill>
              <a:srgbClr val="64D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15400" y="4361688"/>
            <a:ext cx="1298448" cy="786384"/>
          </a:xfrm>
          <a:prstGeom prst="line">
            <a:avLst/>
          </a:prstGeom>
          <a:ln w="31750">
            <a:solidFill>
              <a:srgbClr val="64D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226296" y="1014983"/>
            <a:ext cx="164592" cy="164592"/>
          </a:xfrm>
          <a:prstGeom prst="ellipse">
            <a:avLst/>
          </a:prstGeom>
          <a:solidFill>
            <a:srgbClr val="64D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16184" y="1490472"/>
            <a:ext cx="164592" cy="164592"/>
          </a:xfrm>
          <a:prstGeom prst="ellipse">
            <a:avLst/>
          </a:prstGeom>
          <a:solidFill>
            <a:srgbClr val="829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59952" y="2404872"/>
            <a:ext cx="164592" cy="164592"/>
          </a:xfrm>
          <a:prstGeom prst="ellipse">
            <a:avLst/>
          </a:prstGeom>
          <a:solidFill>
            <a:srgbClr val="64D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76104" y="2724912"/>
            <a:ext cx="164592" cy="164592"/>
          </a:xfrm>
          <a:prstGeom prst="ellipse">
            <a:avLst/>
          </a:prstGeom>
          <a:solidFill>
            <a:srgbClr val="64D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36224" y="3685032"/>
            <a:ext cx="164592" cy="164592"/>
          </a:xfrm>
          <a:prstGeom prst="ellipse">
            <a:avLst/>
          </a:prstGeom>
          <a:solidFill>
            <a:srgbClr val="829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33104" y="4279392"/>
            <a:ext cx="164592" cy="164592"/>
          </a:xfrm>
          <a:prstGeom prst="ellipse">
            <a:avLst/>
          </a:prstGeom>
          <a:solidFill>
            <a:srgbClr val="64D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1552" y="5065776"/>
            <a:ext cx="164592" cy="164592"/>
          </a:xfrm>
          <a:prstGeom prst="ellipse">
            <a:avLst/>
          </a:prstGeom>
          <a:solidFill>
            <a:srgbClr val="64D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210544" y="5614416"/>
            <a:ext cx="164592" cy="164592"/>
          </a:xfrm>
          <a:prstGeom prst="ellipse">
            <a:avLst/>
          </a:prstGeom>
          <a:solidFill>
            <a:srgbClr val="829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33104" y="5925312"/>
            <a:ext cx="2423160" cy="310896"/>
          </a:xfrm>
          <a:prstGeom prst="roundRect">
            <a:avLst>
              <a:gd name="adj" fmla="val 12000"/>
            </a:avLst>
          </a:prstGeom>
          <a:solidFill>
            <a:srgbClr val="1D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24544" y="5975604"/>
            <a:ext cx="2240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4D7C5"/>
                </a:solidFill>
                <a:latin typeface="Lato"/>
              </a:defRPr>
            </a:pPr>
            <a:r>
              <a:t>INTENT →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One traffic question becomes five dependent tasks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I; Fig. 3 (adapted example)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19656"/>
            <a:ext cx="2743200" cy="310896"/>
          </a:xfrm>
          <a:prstGeom prst="roundRect">
            <a:avLst>
              <a:gd name="adj" fmla="val 12000"/>
            </a:avLst>
          </a:prstGeom>
          <a:solidFill>
            <a:srgbClr val="DF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6994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ILLUSTRATIVE USER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59152"/>
            <a:ext cx="6217920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0243A"/>
                </a:solidFill>
                <a:latin typeface="Lato"/>
              </a:defRPr>
            </a:pPr>
            <a:r>
              <a:t>“Close a street in Boston,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0243A"/>
                </a:solidFill>
                <a:latin typeface="Lato"/>
              </a:defRPr>
            </a:pPr>
            <a:r>
              <a:t>route 800 vehicles per hour,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0243A"/>
                </a:solidFill>
                <a:latin typeface="Lato"/>
              </a:defRPr>
            </a:pPr>
            <a:r>
              <a:t>and report average waiting time.”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828800"/>
            <a:ext cx="4160520" cy="23042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699248" y="2286000"/>
            <a:ext cx="3547872" cy="0"/>
          </a:xfrm>
          <a:prstGeom prst="line">
            <a:avLst/>
          </a:prstGeom>
          <a:ln w="635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99248" y="2852928"/>
            <a:ext cx="3547872" cy="0"/>
          </a:xfrm>
          <a:prstGeom prst="line">
            <a:avLst/>
          </a:prstGeom>
          <a:ln w="635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99248" y="3547872"/>
            <a:ext cx="3547872" cy="0"/>
          </a:xfrm>
          <a:prstGeom prst="line">
            <a:avLst/>
          </a:prstGeom>
          <a:ln w="635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56448" y="2057400"/>
            <a:ext cx="0" cy="1764791"/>
          </a:xfrm>
          <a:prstGeom prst="line">
            <a:avLst/>
          </a:prstGeom>
          <a:ln w="635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62288" y="2057400"/>
            <a:ext cx="0" cy="1764791"/>
          </a:xfrm>
          <a:prstGeom prst="line">
            <a:avLst/>
          </a:prstGeom>
          <a:ln w="635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378440" y="2057400"/>
            <a:ext cx="0" cy="1764791"/>
          </a:xfrm>
          <a:prstGeom prst="line">
            <a:avLst/>
          </a:prstGeom>
          <a:ln w="635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000232" y="2057400"/>
            <a:ext cx="0" cy="1764791"/>
          </a:xfrm>
          <a:prstGeom prst="line">
            <a:avLst/>
          </a:prstGeom>
          <a:ln w="635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80576" y="2852928"/>
            <a:ext cx="1170432" cy="0"/>
          </a:xfrm>
          <a:prstGeom prst="line">
            <a:avLst/>
          </a:prstGeom>
          <a:ln w="63500">
            <a:solidFill>
              <a:srgbClr val="A73F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83496" y="2715768"/>
            <a:ext cx="201168" cy="274320"/>
          </a:xfrm>
          <a:prstGeom prst="line">
            <a:avLst/>
          </a:prstGeom>
          <a:ln w="25400">
            <a:solidFill>
              <a:srgbClr val="A73F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683496" y="2715768"/>
            <a:ext cx="201168" cy="274320"/>
          </a:xfrm>
          <a:prstGeom prst="line">
            <a:avLst/>
          </a:prstGeom>
          <a:ln w="25400">
            <a:solidFill>
              <a:srgbClr val="A73F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065008" y="2194560"/>
            <a:ext cx="182880" cy="182880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08792" y="3456432"/>
            <a:ext cx="182880" cy="182880"/>
          </a:xfrm>
          <a:prstGeom prst="ellipse">
            <a:avLst/>
          </a:prstGeom>
          <a:solidFill>
            <a:srgbClr val="236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27264" y="1993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007F78"/>
                </a:solidFill>
                <a:latin typeface="Lato"/>
              </a:defRPr>
            </a:pPr>
            <a:r>
              <a:t>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35478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2363C6"/>
                </a:solidFill>
                <a:latin typeface="Lato"/>
              </a:defRPr>
            </a:pPr>
            <a: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3886200"/>
            <a:ext cx="3657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55677B"/>
                </a:solidFill>
                <a:latin typeface="Lato"/>
              </a:defRPr>
            </a:pPr>
            <a:r>
              <a:t>Road closure • schematic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544568"/>
            <a:ext cx="2011680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469087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07F78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4636008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202936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5677B"/>
                </a:solidFill>
                <a:latin typeface="Lato"/>
              </a:defRPr>
            </a:pPr>
            <a:r>
              <a:t>Road network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24328" y="5065776"/>
            <a:ext cx="182880" cy="0"/>
          </a:xfrm>
          <a:prstGeom prst="line">
            <a:avLst/>
          </a:prstGeom>
          <a:ln w="1905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834640" y="4544568"/>
            <a:ext cx="2011680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80944" y="469087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07F78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4636008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Modify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0088" y="5202936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5677B"/>
                </a:solidFill>
                <a:latin typeface="Lato"/>
              </a:defRPr>
            </a:pPr>
            <a:r>
              <a:t>Street closure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864608" y="5065776"/>
            <a:ext cx="182880" cy="0"/>
          </a:xfrm>
          <a:prstGeom prst="line">
            <a:avLst/>
          </a:prstGeom>
          <a:ln w="1905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074920" y="4544568"/>
            <a:ext cx="2011680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21224" y="469087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07F78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1848" y="4636008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0368" y="5202936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5677B"/>
                </a:solidFill>
                <a:latin typeface="Lato"/>
              </a:defRPr>
            </a:pPr>
            <a:r>
              <a:t>O–D flows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104888" y="5065776"/>
            <a:ext cx="182880" cy="0"/>
          </a:xfrm>
          <a:prstGeom prst="line">
            <a:avLst/>
          </a:prstGeom>
          <a:ln w="1905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315200" y="4544568"/>
            <a:ext cx="2011680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61504" y="469087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07F78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7" y="4636008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Run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70648" y="5202936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5677B"/>
                </a:solidFill>
                <a:latin typeface="Lato"/>
              </a:defRPr>
            </a:pPr>
            <a:r>
              <a:t>SUMO execution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345168" y="5065776"/>
            <a:ext cx="182880" cy="0"/>
          </a:xfrm>
          <a:prstGeom prst="line">
            <a:avLst/>
          </a:prstGeom>
          <a:ln w="1905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555480" y="4544568"/>
            <a:ext cx="2011680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01784" y="469087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07F78"/>
                </a:solidFill>
                <a:latin typeface="Lato"/>
              </a:defRPr>
            </a:pPr>
            <a: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22408" y="4636008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Analyze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0928" y="5202936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5677B"/>
                </a:solidFill>
                <a:latin typeface="Lato"/>
              </a:defRPr>
            </a:pPr>
            <a:r>
              <a:t>Waiting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07F78"/>
                </a:solidFill>
                <a:latin typeface="Lato"/>
              </a:defRPr>
            </a:pPr>
            <a:r>
              <a:t>Every stage must agree on the network, demand, parameters, and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A single context must remember every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The paper’s baseline is a monolithic ReAct agent with all tools and execution history.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IV-A, IV-C, IV-E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276856"/>
            <a:ext cx="5852160" cy="3502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496312"/>
            <a:ext cx="2651760" cy="310896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46604"/>
            <a:ext cx="24688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2363C6"/>
                </a:solidFill>
                <a:latin typeface="Lato"/>
              </a:defRPr>
            </a:pPr>
            <a:r>
              <a:t>ONE GROWING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108960"/>
            <a:ext cx="1874519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191256"/>
            <a:ext cx="163677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User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80944" y="3108960"/>
            <a:ext cx="1828800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9815" y="3191256"/>
            <a:ext cx="15910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Tool calls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739896"/>
            <a:ext cx="2167128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90472" y="3822191"/>
            <a:ext cx="192938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Network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739896"/>
            <a:ext cx="2322576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76472" y="3822191"/>
            <a:ext cx="208483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Route parameters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389120"/>
            <a:ext cx="2331720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4471416"/>
            <a:ext cx="209397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Modified edges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4389120"/>
            <a:ext cx="1920240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4471416"/>
            <a:ext cx="16824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Retry 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5020056"/>
            <a:ext cx="2148840" cy="44805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13432" y="5102352"/>
            <a:ext cx="191109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KPI outputs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05939" y="3557015"/>
            <a:ext cx="649225" cy="182881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95344" y="3557015"/>
            <a:ext cx="923544" cy="182881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080260" y="4187952"/>
            <a:ext cx="374904" cy="201168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389120" y="4187952"/>
            <a:ext cx="429768" cy="201168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80260" y="4837176"/>
            <a:ext cx="1188720" cy="18288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931152" y="2478024"/>
            <a:ext cx="128016" cy="128016"/>
          </a:xfrm>
          <a:prstGeom prst="ellipse">
            <a:avLst/>
          </a:prstGeom>
          <a:solidFill>
            <a:srgbClr val="A7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2322576"/>
            <a:ext cx="4261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0243A"/>
                </a:solidFill>
                <a:latin typeface="Lato"/>
              </a:defRPr>
            </a:pPr>
            <a:r>
              <a:t>Path reference errors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0336" y="2816352"/>
            <a:ext cx="41513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A downstream step points to the wrong file.</a:t>
            </a:r>
          </a:p>
        </p:txBody>
      </p:sp>
      <p:sp>
        <p:nvSpPr>
          <p:cNvPr id="35" name="Oval 34"/>
          <p:cNvSpPr/>
          <p:nvPr/>
        </p:nvSpPr>
        <p:spPr>
          <a:xfrm>
            <a:off x="6931152" y="3666744"/>
            <a:ext cx="128016" cy="128016"/>
          </a:xfrm>
          <a:prstGeom prst="ellipse">
            <a:avLst/>
          </a:prstGeom>
          <a:solidFill>
            <a:srgbClr val="A7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0336" y="3511296"/>
            <a:ext cx="4261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0243A"/>
                </a:solidFill>
                <a:latin typeface="Lato"/>
              </a:defRPr>
            </a:pPr>
            <a:r>
              <a:t>Parameter inconsistency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0336" y="4005072"/>
            <a:ext cx="41513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Physical values drift across tool calls.</a:t>
            </a:r>
          </a:p>
        </p:txBody>
      </p:sp>
      <p:sp>
        <p:nvSpPr>
          <p:cNvPr id="38" name="Oval 37"/>
          <p:cNvSpPr/>
          <p:nvPr/>
        </p:nvSpPr>
        <p:spPr>
          <a:xfrm>
            <a:off x="6931152" y="4855464"/>
            <a:ext cx="128016" cy="128016"/>
          </a:xfrm>
          <a:prstGeom prst="ellipse">
            <a:avLst/>
          </a:prstGeom>
          <a:solidFill>
            <a:srgbClr val="A7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0336" y="4700016"/>
            <a:ext cx="4261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0243A"/>
                </a:solidFill>
                <a:latin typeface="Lato"/>
              </a:defRPr>
            </a:pPr>
            <a:r>
              <a:t>Reasoning drift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0336" y="5193792"/>
            <a:ext cx="41513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Retries lose track of the original objective.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00760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07F78"/>
                </a:solidFill>
                <a:latin typeface="Lato"/>
              </a:defRPr>
            </a:pPr>
            <a:r>
              <a:t>Design question: which responsibilities should be explicit in the system?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METHOD 01 / ROLE SPECIALIZATION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Separate reasoning roles. Make state explicit.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One Planner + five specialized workers, coordinated through a persistent Orchestrator.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III; Fig. 2 (redrawn)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185416"/>
            <a:ext cx="4425696" cy="566928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231343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2363C6"/>
                </a:solidFill>
                <a:latin typeface="Lato"/>
              </a:defRPr>
            </a:pPr>
            <a:r>
              <a:t>Planner  ·  goal → ordered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0" y="2770632"/>
            <a:ext cx="0" cy="237744"/>
          </a:xfrm>
          <a:prstGeom prst="line">
            <a:avLst/>
          </a:prstGeom>
          <a:ln w="19050">
            <a:solidFill>
              <a:srgbClr val="2363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47088" y="3054096"/>
            <a:ext cx="6190488" cy="786384"/>
          </a:xfrm>
          <a:prstGeom prst="roundRect">
            <a:avLst>
              <a:gd name="adj" fmla="val 12000"/>
            </a:avLst>
          </a:prstGeom>
          <a:solidFill>
            <a:srgbClr val="1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3" y="3191256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FFFFFF"/>
                </a:solidFill>
                <a:latin typeface="Lato"/>
              </a:defRPr>
            </a:pPr>
            <a:r>
              <a:t>Orchestrator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300984"/>
            <a:ext cx="309981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FFFFF"/>
                </a:solidFill>
                <a:latin typeface="Lato"/>
              </a:defRPr>
            </a:pPr>
            <a:r>
              <a:t>Coordinate • validate • pass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0496" y="2916936"/>
            <a:ext cx="3044952" cy="1024128"/>
          </a:xfrm>
          <a:prstGeom prst="roundRect">
            <a:avLst>
              <a:gd name="adj" fmla="val 12000"/>
            </a:avLst>
          </a:prstGeom>
          <a:solidFill>
            <a:srgbClr val="DF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0808" y="3035808"/>
            <a:ext cx="2660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07F78"/>
                </a:solidFill>
                <a:latin typeface="Lato"/>
              </a:defRPr>
            </a:pPr>
            <a:r>
              <a:t>Persistent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3520440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007F78"/>
                </a:solidFill>
                <a:latin typeface="Lato"/>
              </a:defRPr>
            </a:pPr>
            <a:r>
              <a:t>Artifacts + dependencies (SQLite)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74152" y="3300984"/>
            <a:ext cx="411480" cy="0"/>
          </a:xfrm>
          <a:prstGeom prst="line">
            <a:avLst/>
          </a:prstGeom>
          <a:ln w="17780">
            <a:solidFill>
              <a:srgbClr val="007F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074152" y="3602736"/>
            <a:ext cx="411480" cy="0"/>
          </a:xfrm>
          <a:prstGeom prst="line">
            <a:avLst/>
          </a:prstGeom>
          <a:ln w="17780">
            <a:solidFill>
              <a:srgbClr val="007F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937760" y="3858768"/>
            <a:ext cx="0" cy="237744"/>
          </a:xfrm>
          <a:prstGeom prst="line">
            <a:avLst/>
          </a:prstGeom>
          <a:ln w="1905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4360" y="4133087"/>
            <a:ext cx="11000232" cy="402336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215384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55677B"/>
                </a:solidFill>
                <a:latin typeface="Lato"/>
              </a:defRPr>
            </a:pPr>
            <a:r>
              <a:t>MODEL CONTEXT PROTOCOL (MCP)  /  TOOL INTERFACE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00200" y="4553712"/>
            <a:ext cx="0" cy="256032"/>
          </a:xfrm>
          <a:prstGeom prst="line">
            <a:avLst/>
          </a:prstGeom>
          <a:ln w="1524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94360" y="4846320"/>
            <a:ext cx="2029968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965192"/>
            <a:ext cx="1719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007F78"/>
                </a:solidFill>
                <a:latin typeface="Lato"/>
              </a:defRPr>
            </a:pPr>
            <a:r>
              <a:t>Builder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544982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OSM → network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40480" y="4553712"/>
            <a:ext cx="0" cy="256032"/>
          </a:xfrm>
          <a:prstGeom prst="line">
            <a:avLst/>
          </a:prstGeom>
          <a:ln w="1524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34640" y="4846320"/>
            <a:ext cx="2029968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0088" y="4965192"/>
            <a:ext cx="1719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A56805"/>
                </a:solidFill>
                <a:latin typeface="Lato"/>
              </a:defRPr>
            </a:pPr>
            <a:r>
              <a:t>Modifier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4368" y="544982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Topology / signals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0760" y="4553712"/>
            <a:ext cx="0" cy="256032"/>
          </a:xfrm>
          <a:prstGeom prst="line">
            <a:avLst/>
          </a:prstGeom>
          <a:ln w="1524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74920" y="4846320"/>
            <a:ext cx="2029968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30368" y="4965192"/>
            <a:ext cx="1719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007F78"/>
                </a:solidFill>
                <a:latin typeface="Lato"/>
              </a:defRPr>
            </a:pPr>
            <a:r>
              <a:t>Demand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648" y="544982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Flows / routes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321040" y="4553712"/>
            <a:ext cx="0" cy="256032"/>
          </a:xfrm>
          <a:prstGeom prst="line">
            <a:avLst/>
          </a:prstGeom>
          <a:ln w="1524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315200" y="4846320"/>
            <a:ext cx="2029968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0648" y="4965192"/>
            <a:ext cx="1719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2363C6"/>
                </a:solidFill>
                <a:latin typeface="Lato"/>
              </a:defRPr>
            </a:pPr>
            <a:r>
              <a:t>Runner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4927" y="544982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SUMO execution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561320" y="4553712"/>
            <a:ext cx="0" cy="256032"/>
          </a:xfrm>
          <a:prstGeom prst="line">
            <a:avLst/>
          </a:prstGeom>
          <a:ln w="1524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55480" y="4846320"/>
            <a:ext cx="2029968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10928" y="4965192"/>
            <a:ext cx="1719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2363C6"/>
                </a:solidFill>
                <a:latin typeface="Lato"/>
              </a:defRPr>
            </a:pPr>
            <a:r>
              <a:t>Analyst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65208" y="544982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Metrics / feedback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603504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07F78"/>
                </a:solidFill>
                <a:latin typeface="Lato"/>
              </a:defRPr>
            </a:pPr>
            <a:r>
              <a:t>Scoped reasoning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98264" y="603504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07F78"/>
                </a:solidFill>
                <a:latin typeface="Lato"/>
              </a:defRPr>
            </a:pPr>
            <a:r>
              <a:t>Validated handovers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7" y="603504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07F78"/>
                </a:solidFill>
                <a:latin typeface="Lato"/>
              </a:defRPr>
            </a:pPr>
            <a:r>
              <a:t>Bounded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METHOD 02 / ARTIFACT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Route generation uses the validated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A road closure changes the physical world that downstream tools must use.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III-A, III-B, III-C.2–4 (illustrative artifact labels)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04872"/>
            <a:ext cx="25603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596896"/>
            <a:ext cx="2231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2363C6"/>
                </a:solidFill>
                <a:latin typeface="Lato"/>
              </a:defRPr>
            </a:pPr>
            <a:r>
              <a:t>Builder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3246120"/>
            <a:ext cx="2267712" cy="484632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3756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2363C6"/>
                </a:solidFill>
                <a:latin typeface="Lato"/>
              </a:defRPr>
            </a:pPr>
            <a:r>
              <a:t>network 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397763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5677B"/>
                </a:solidFill>
                <a:latin typeface="Lato"/>
              </a:defRPr>
            </a:pPr>
            <a:r>
              <a:t>Original topology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2404872"/>
            <a:ext cx="25603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596896"/>
            <a:ext cx="2231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A56805"/>
                </a:solidFill>
                <a:latin typeface="Lato"/>
              </a:defRPr>
            </a:pPr>
            <a:r>
              <a:t>Modifier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47872" y="3246120"/>
            <a:ext cx="2267712" cy="484632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5888" y="333756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A56805"/>
                </a:solidFill>
                <a:latin typeface="Lato"/>
              </a:defRPr>
            </a:pPr>
            <a:r>
              <a:t>network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6" y="397763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5677B"/>
                </a:solidFill>
                <a:latin typeface="Lato"/>
              </a:defRPr>
            </a:pPr>
            <a:r>
              <a:t>Closure applied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2404872"/>
            <a:ext cx="25603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2596896"/>
            <a:ext cx="2231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007F78"/>
                </a:solidFill>
                <a:latin typeface="Lato"/>
              </a:defRPr>
            </a:pPr>
            <a:r>
              <a:t>Demand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246120"/>
            <a:ext cx="2267712" cy="484632"/>
          </a:xfrm>
          <a:prstGeom prst="roundRect">
            <a:avLst>
              <a:gd name="adj" fmla="val 12000"/>
            </a:avLst>
          </a:prstGeom>
          <a:solidFill>
            <a:srgbClr val="DF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07F78"/>
                </a:solidFill>
                <a:latin typeface="Lato"/>
              </a:defRPr>
            </a:pPr>
            <a:r>
              <a:t>routes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397763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5677B"/>
                </a:solidFill>
                <a:latin typeface="Lato"/>
              </a:defRPr>
            </a:pPr>
            <a:r>
              <a:t>Generated on v2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2404872"/>
            <a:ext cx="25603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596896"/>
            <a:ext cx="2231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2363C6"/>
                </a:solidFill>
                <a:latin typeface="Lato"/>
              </a:defRPr>
            </a:pPr>
            <a:r>
              <a:t>Runner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34272" y="3246120"/>
            <a:ext cx="2267712" cy="484632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333756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2363C6"/>
                </a:solidFill>
                <a:latin typeface="Lato"/>
              </a:defRPr>
            </a:pPr>
            <a:r>
              <a:t>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397763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5677B"/>
                </a:solidFill>
                <a:latin typeface="Lato"/>
              </a:defRPr>
            </a:pPr>
            <a:r>
              <a:t>v2 + matching routes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36976" y="3346704"/>
            <a:ext cx="137160" cy="0"/>
          </a:xfrm>
          <a:prstGeom prst="line">
            <a:avLst/>
          </a:prstGeom>
          <a:ln w="1651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980176" y="3346704"/>
            <a:ext cx="137160" cy="0"/>
          </a:xfrm>
          <a:prstGeom prst="line">
            <a:avLst/>
          </a:prstGeom>
          <a:ln w="1651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23376" y="3346704"/>
            <a:ext cx="137160" cy="0"/>
          </a:xfrm>
          <a:prstGeom prst="line">
            <a:avLst/>
          </a:prstGeom>
          <a:ln w="1651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8368" y="4901184"/>
            <a:ext cx="6519672" cy="914400"/>
          </a:xfrm>
          <a:prstGeom prst="roundRect">
            <a:avLst>
              <a:gd name="adj" fmla="val 12000"/>
            </a:avLst>
          </a:prstGeom>
          <a:solidFill>
            <a:srgbClr val="1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5120640"/>
            <a:ext cx="609904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Lato"/>
              </a:defRPr>
            </a:pPr>
            <a:r>
              <a:t>Shared state passes the latest validated artifact.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681728" y="4407408"/>
            <a:ext cx="0" cy="457200"/>
          </a:xfrm>
          <a:prstGeom prst="line">
            <a:avLst/>
          </a:prstGeom>
          <a:ln w="19050">
            <a:solidFill>
              <a:srgbClr val="007F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616952" y="4919472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07F78"/>
                </a:solidFill>
                <a:latin typeface="Lato"/>
              </a:defRPr>
            </a:pPr>
            <a:r>
              <a:t>Dependency rule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6952" y="5376672"/>
            <a:ext cx="380390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0243A"/>
                </a:solidFill>
                <a:latin typeface="Lato"/>
              </a:defRPr>
            </a:pPr>
            <a:r>
              <a:t>Modify topology before generating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METHOD /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The Planner turns intent into ordered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Illustrative Boston request, adapted from the paper’s Fig. 3.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Fig. 3; Appendix II–III (simplified, not an execution log)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2084831"/>
            <a:ext cx="10972800" cy="694944"/>
          </a:xfrm>
          <a:prstGeom prst="roundRect">
            <a:avLst>
              <a:gd name="adj" fmla="val 12000"/>
            </a:avLst>
          </a:prstGeom>
          <a:solidFill>
            <a:srgbClr val="1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85416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FFFFFF"/>
                </a:solidFill>
                <a:latin typeface="Lato"/>
              </a:defRPr>
            </a:pPr>
            <a:r>
              <a:t>Boston: close Boylston Street; Newbury Street → Beacon Street at 800 veh/h.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FFFFFF"/>
                </a:solidFill>
                <a:latin typeface="Lato"/>
              </a:defRPr>
            </a:pPr>
            <a:r>
              <a:t>Run the simulation and report average waiting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3035808"/>
            <a:ext cx="10972800" cy="4663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118103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7F78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10438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43A"/>
                </a:solidFill>
                <a:latin typeface="Lato"/>
              </a:defRPr>
            </a:pPr>
            <a:r>
              <a:t>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3108960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0243A"/>
                </a:solidFill>
                <a:latin typeface="Lato"/>
              </a:defRPr>
            </a:pPr>
            <a:r>
              <a:t>Build the Boston road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226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007F78"/>
                </a:solidFill>
                <a:latin typeface="Lato"/>
              </a:defRPr>
            </a:pPr>
            <a:r>
              <a:t>.net.xml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3575303"/>
            <a:ext cx="10972800" cy="466344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5759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7F78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64388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43A"/>
                </a:solidFill>
                <a:latin typeface="Lato"/>
              </a:defRPr>
            </a:pPr>
            <a:r>
              <a:t>Modifier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6" y="3648456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0243A"/>
                </a:solidFill>
                <a:latin typeface="Lato"/>
              </a:defRPr>
            </a:pPr>
            <a:r>
              <a:t>Apply the requested Boylston Street closure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6621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007F78"/>
                </a:solidFill>
                <a:latin typeface="Lato"/>
              </a:defRPr>
            </a:pPr>
            <a:r>
              <a:t>Updated network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4114800"/>
            <a:ext cx="10972800" cy="4663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19709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7F78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41833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43A"/>
                </a:solidFill>
                <a:latin typeface="Lato"/>
              </a:defRPr>
            </a:pPr>
            <a:r>
              <a:t>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4187952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0243A"/>
                </a:solidFill>
                <a:latin typeface="Lato"/>
              </a:defRPr>
            </a:pPr>
            <a:r>
              <a:t>Newbury Street → Beacon Street; 800 veh/h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2016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007F78"/>
                </a:solidFill>
                <a:latin typeface="Lato"/>
              </a:defRPr>
            </a:pPr>
            <a:r>
              <a:t>.rou.xml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4654296"/>
            <a:ext cx="10972800" cy="466344"/>
          </a:xfrm>
          <a:prstGeom prst="roundRect">
            <a:avLst>
              <a:gd name="adj" fmla="val 12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736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7F78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72287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43A"/>
                </a:solidFill>
                <a:latin typeface="Lato"/>
              </a:defRPr>
            </a:pPr>
            <a:r>
              <a:t>Runner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45536" y="4727448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0243A"/>
                </a:solidFill>
                <a:latin typeface="Lato"/>
              </a:defRPr>
            </a:pPr>
            <a:r>
              <a:t>Configure and execute SUMO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47411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007F78"/>
                </a:solidFill>
                <a:latin typeface="Lato"/>
              </a:defRPr>
            </a:pPr>
            <a:r>
              <a:t>.sumocfg + outputs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5193792"/>
            <a:ext cx="10972800" cy="4663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2760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7F78"/>
                </a:solidFill>
                <a:latin typeface="Lato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9032" y="526237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0243A"/>
                </a:solidFill>
                <a:latin typeface="Lato"/>
              </a:defRPr>
            </a:pPr>
            <a:r>
              <a:t>Analyst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45536" y="526694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0243A"/>
                </a:solidFill>
                <a:latin typeface="Lato"/>
              </a:defRPr>
            </a:pPr>
            <a:r>
              <a:t>Extract average waiting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528065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007F78"/>
                </a:solidFill>
                <a:latin typeface="Lato"/>
              </a:defRPr>
            </a:pPr>
            <a:r>
              <a:t>KPI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6016752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07F78"/>
                </a:solidFill>
                <a:latin typeface="Lato"/>
              </a:defRPr>
            </a:pPr>
            <a:r>
              <a:t>Each step activates one role and supplies only the parameters that role needs.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METHOD 03 /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Two feedback loops address two different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Execution repair handles tool failures; KPI feedback revisits the scenario objective.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III-B; Algorithm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68880"/>
            <a:ext cx="249631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63347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0243A"/>
                </a:solidFill>
                <a:latin typeface="Lato"/>
              </a:defRPr>
            </a:pPr>
            <a: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313639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Decompose objective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468880"/>
            <a:ext cx="249631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263347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0243A"/>
                </a:solidFill>
                <a:latin typeface="Lato"/>
              </a:defRPr>
            </a:pPr>
            <a:r>
              <a:t>Execute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313639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Workers +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468880"/>
            <a:ext cx="249631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263347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0243A"/>
                </a:solidFill>
                <a:latin typeface="Lato"/>
              </a:defRPr>
            </a:pPr>
            <a: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313639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Extract KPIs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47288" y="2962656"/>
            <a:ext cx="612648" cy="0"/>
          </a:xfrm>
          <a:prstGeom prst="line">
            <a:avLst/>
          </a:prstGeom>
          <a:ln w="2159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47688" y="2962656"/>
            <a:ext cx="612648" cy="0"/>
          </a:xfrm>
          <a:prstGeom prst="line">
            <a:avLst/>
          </a:prstGeom>
          <a:ln w="21590">
            <a:solidFill>
              <a:srgbClr val="8294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65976" y="2651760"/>
            <a:ext cx="603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55677B"/>
                </a:solidFill>
                <a:latin typeface="Lato"/>
              </a:defRPr>
            </a:pPr>
            <a:r>
              <a:t>valid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48088" y="2962656"/>
            <a:ext cx="530352" cy="0"/>
          </a:xfrm>
          <a:prstGeom prst="line">
            <a:avLst/>
          </a:prstGeom>
          <a:ln w="21590">
            <a:solidFill>
              <a:srgbClr val="007F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442448" y="2642616"/>
            <a:ext cx="1005840" cy="658368"/>
          </a:xfrm>
          <a:prstGeom prst="roundRect">
            <a:avLst>
              <a:gd name="adj" fmla="val 12000"/>
            </a:avLst>
          </a:prstGeom>
          <a:solidFill>
            <a:srgbClr val="DF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2798064"/>
            <a:ext cx="859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07F78"/>
                </a:solidFill>
                <a:latin typeface="Lato"/>
              </a:defRPr>
            </a:pPr>
            <a:r>
              <a:t>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2295144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007F78"/>
                </a:solidFill>
                <a:latin typeface="Lato"/>
              </a:defRPr>
            </a:pPr>
            <a:r>
              <a:t>target met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67528" y="3538728"/>
            <a:ext cx="0" cy="713232"/>
          </a:xfrm>
          <a:prstGeom prst="line">
            <a:avLst/>
          </a:prstGeom>
          <a:ln w="21590">
            <a:solidFill>
              <a:srgbClr val="A568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148840" y="4251960"/>
            <a:ext cx="3218688" cy="0"/>
          </a:xfrm>
          <a:prstGeom prst="line">
            <a:avLst/>
          </a:prstGeom>
          <a:ln w="21590">
            <a:solidFill>
              <a:srgbClr val="A568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148840" y="3547872"/>
            <a:ext cx="0" cy="704088"/>
          </a:xfrm>
          <a:prstGeom prst="line">
            <a:avLst/>
          </a:prstGeom>
          <a:ln w="21590">
            <a:solidFill>
              <a:srgbClr val="A5680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2104" y="4489704"/>
            <a:ext cx="5669280" cy="310896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453999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A56805"/>
                </a:solidFill>
                <a:latin typeface="Lato"/>
              </a:defRPr>
            </a:pPr>
            <a:r>
              <a:t>1  EXECUTION ERROR → STRUCTURED FEEDBACK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3538728"/>
            <a:ext cx="0" cy="1691640"/>
          </a:xfrm>
          <a:prstGeom prst="line">
            <a:avLst/>
          </a:prstGeom>
          <a:ln w="21590">
            <a:solidFill>
              <a:srgbClr val="236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225296" y="5230368"/>
            <a:ext cx="7342632" cy="0"/>
          </a:xfrm>
          <a:prstGeom prst="line">
            <a:avLst/>
          </a:prstGeom>
          <a:ln w="21590">
            <a:solidFill>
              <a:srgbClr val="236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225296" y="3547872"/>
            <a:ext cx="0" cy="1682496"/>
          </a:xfrm>
          <a:prstGeom prst="line">
            <a:avLst/>
          </a:prstGeom>
          <a:ln w="21590">
            <a:solidFill>
              <a:srgbClr val="2363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2104" y="5504688"/>
            <a:ext cx="4590288" cy="310896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5554979"/>
            <a:ext cx="44074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363C6"/>
                </a:solidFill>
                <a:latin typeface="Lato"/>
              </a:defRPr>
            </a:pPr>
            <a:r>
              <a:t>2  KPI TARGET UNMET → REPLAN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4837176"/>
            <a:ext cx="23865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Bounded attempts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Stop on success or budget limit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EVALUATION /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30 tasks test increasing dependency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SUMO 1.21.0  ·  Qwen3-30B-Coder  ·  monolithic ReAct vs. the proposed framework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IV-A, IV-B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295144"/>
            <a:ext cx="3474720" cy="2167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" y="2496312"/>
            <a:ext cx="521207" cy="310896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546604"/>
            <a:ext cx="3383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2363C6"/>
                </a:solidFill>
                <a:latin typeface="Lato"/>
              </a:defRPr>
            </a:pPr>
            <a: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026664"/>
            <a:ext cx="312724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10243A"/>
                </a:solidFill>
                <a:latin typeface="Lato"/>
              </a:defRPr>
            </a:pPr>
            <a:r>
              <a:t>Basic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685032"/>
            <a:ext cx="312724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Build a geographic network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+ qualitative traffic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295144"/>
            <a:ext cx="3474720" cy="2167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44568" y="2496312"/>
            <a:ext cx="521207" cy="310896"/>
          </a:xfrm>
          <a:prstGeom prst="roundRect">
            <a:avLst>
              <a:gd name="adj" fmla="val 12000"/>
            </a:avLst>
          </a:prstGeom>
          <a:solidFill>
            <a:srgbClr val="DF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2546604"/>
            <a:ext cx="3383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026664"/>
            <a:ext cx="312724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10243A"/>
                </a:solidFill>
                <a:latin typeface="Lato"/>
              </a:defRPr>
            </a:pPr>
            <a:r>
              <a:t>Intermediate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685032"/>
            <a:ext cx="312724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Specify origin–destination flow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+ align tool parameters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0727" y="2295144"/>
            <a:ext cx="3474720" cy="2167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93607" y="2496312"/>
            <a:ext cx="521207" cy="310896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7" y="2546604"/>
            <a:ext cx="3383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A56805"/>
                </a:solidFill>
                <a:latin typeface="Lato"/>
              </a:defRPr>
            </a:pPr>
            <a: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3026664"/>
            <a:ext cx="312724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10243A"/>
                </a:solidFill>
                <a:latin typeface="Lato"/>
              </a:defRPr>
            </a:pPr>
            <a:r>
              <a:t>Complex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7" y="3685032"/>
            <a:ext cx="312724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Modify network topology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before demand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846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007F78"/>
                </a:solidFill>
                <a:latin typeface="Lato"/>
              </a:defRPr>
            </a:pPr>
            <a:r>
              <a:t>WHAT IS MEASURED?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385816"/>
            <a:ext cx="343814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Success rate 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52160"/>
            <a:ext cx="34564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55677B"/>
                </a:solidFill>
                <a:latin typeface="Lato"/>
              </a:defRPr>
            </a:pPr>
            <a:r>
              <a:t>Valid configuration + error-free 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7" y="5385816"/>
            <a:ext cx="343814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Average tokens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7" y="5852160"/>
            <a:ext cx="34564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55677B"/>
                </a:solidFill>
                <a:latin typeface="Lato"/>
              </a:defRPr>
            </a:pPr>
            <a:r>
              <a:t>Total LLM input + output tokens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5385816"/>
            <a:ext cx="343814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Time-to-Insight 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5852160"/>
            <a:ext cx="34564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55677B"/>
                </a:solidFill>
                <a:latin typeface="Lato"/>
              </a:defRPr>
            </a:pPr>
            <a:r>
              <a:t>User request → first valid KPI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RESULTS / ARCHITECTURE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Complex-task success rises from 70% to 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Success rate by task complexity (%) 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Table I; Sec. IV-C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2148840"/>
            <a:ext cx="146304" cy="146304"/>
          </a:xfrm>
          <a:prstGeom prst="rect">
            <a:avLst/>
          </a:prstGeom>
          <a:solidFill>
            <a:srgbClr val="829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1226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Monolithic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4096" y="2148840"/>
            <a:ext cx="146304" cy="146304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39" y="21122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Multi-agent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12648" y="2606040"/>
          <a:ext cx="6967728" cy="3081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46720" y="2185416"/>
            <a:ext cx="3493008" cy="3502152"/>
          </a:xfrm>
          <a:prstGeom prst="roundRect">
            <a:avLst>
              <a:gd name="adj" fmla="val 12000"/>
            </a:avLst>
          </a:prstGeom>
          <a:solidFill>
            <a:srgbClr val="DF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432304"/>
            <a:ext cx="29718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07F78"/>
                </a:solidFill>
                <a:latin typeface="Lato"/>
              </a:defRPr>
            </a:pPr>
            <a:r>
              <a:t>L3 / COMPLEX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026664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6500" b="1">
                <a:solidFill>
                  <a:srgbClr val="007F78"/>
                </a:solidFill>
                <a:latin typeface="Lato"/>
              </a:defRPr>
            </a:pPr>
            <a:r>
              <a:t>+20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133087"/>
            <a:ext cx="28986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007F78"/>
                </a:solidFill>
                <a:latin typeface="Lato"/>
              </a:defRPr>
            </a:pPr>
            <a:r>
              <a:t>percentage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782312"/>
            <a:ext cx="28620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0243A"/>
                </a:solidFill>
                <a:latin typeface="Lato"/>
              </a:defRPr>
            </a:pPr>
            <a:r>
              <a:t>The gain is concentrated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0243A"/>
                </a:solidFill>
                <a:latin typeface="Lato"/>
              </a:defRPr>
            </a:pPr>
            <a:r>
              <a:t>in harder workflows.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6016752"/>
            <a:ext cx="10945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55677B"/>
                </a:solidFill>
                <a:latin typeface="Lato"/>
              </a:defRPr>
            </a:pPr>
            <a:r>
              <a:t>L1 is 10 points lower; L2 is unchanged. Role separation helps most when dependencies grow.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RESULTS /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Fewer tokens and a shorter path to the first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Reported averages in the architecture comparison; lower is better.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Table I; percentages and ratios calculated from reported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" y="2139696"/>
            <a:ext cx="146304" cy="146304"/>
          </a:xfrm>
          <a:prstGeom prst="rect">
            <a:avLst/>
          </a:prstGeom>
          <a:solidFill>
            <a:srgbClr val="829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031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Monolithic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08376" y="2139696"/>
            <a:ext cx="146304" cy="146304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1031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77B"/>
                </a:solidFill>
                <a:latin typeface="Lato"/>
              </a:defRPr>
            </a:pPr>
            <a:r>
              <a:t>Multi-agent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615184"/>
            <a:ext cx="5349240" cy="3182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27064" y="2615184"/>
            <a:ext cx="5349240" cy="3182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798064"/>
            <a:ext cx="48188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10243A"/>
                </a:solidFill>
                <a:latin typeface="Lato"/>
              </a:defRPr>
            </a:pPr>
            <a:r>
              <a:t>Average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980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10243A"/>
                </a:solidFill>
                <a:latin typeface="Lato"/>
              </a:defRPr>
            </a:pPr>
            <a:r>
              <a:t>Time-to-Insight (seconds)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94944" y="3218688"/>
          <a:ext cx="5093208" cy="24140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300216" y="3218688"/>
          <a:ext cx="5093208" cy="24140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68680" y="5971032"/>
            <a:ext cx="5001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007F78"/>
                </a:solidFill>
                <a:latin typeface="Lato"/>
              </a:defRPr>
            </a:pPr>
            <a:r>
              <a:t>L3: 47.1% fewer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5971032"/>
            <a:ext cx="5010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007F78"/>
                </a:solidFill>
                <a:latin typeface="Lato"/>
              </a:defRPr>
            </a:pPr>
            <a:r>
              <a:t>L3: 41.4 s → 8.3 s  /  ≈5.0× speedup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RESULTS / REPAIR-BUDGET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One repair attempt helps; a second adds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Separate experiment: compare 0, 1, and 2 maximum repair attempts within Table II.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Table II; Sec. IV-D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185416"/>
            <a:ext cx="603504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L2 and L3 success rate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13232" y="2724912"/>
          <a:ext cx="6016752" cy="28072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59536" y="5623560"/>
            <a:ext cx="5797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55677B"/>
                </a:solidFill>
                <a:latin typeface="Lato"/>
              </a:defRPr>
            </a:pPr>
            <a:r>
              <a:t>L2 and L3 have identical reported success rates.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14616" y="2185416"/>
            <a:ext cx="4315968" cy="3621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2432304"/>
            <a:ext cx="384962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243A"/>
                </a:solidFill>
                <a:latin typeface="Lato"/>
              </a:defRPr>
            </a:pPr>
            <a:r>
              <a:t>L3 average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1504" y="3145536"/>
            <a:ext cx="1993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55677B"/>
                </a:solidFill>
                <a:latin typeface="Lato"/>
              </a:defRPr>
            </a:pPr>
            <a:r>
              <a:t>0 repairs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3145536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0243A"/>
                </a:solidFill>
                <a:latin typeface="Lato"/>
              </a:defRPr>
            </a:pPr>
            <a:r>
              <a:t>3,981.6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504" y="3794760"/>
            <a:ext cx="1993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55677B"/>
                </a:solidFill>
                <a:latin typeface="Lato"/>
              </a:defRPr>
            </a:pPr>
            <a:r>
              <a:t>1 repair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379476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007F78"/>
                </a:solidFill>
                <a:latin typeface="Lato"/>
              </a:defRPr>
            </a:pPr>
            <a:r>
              <a:t>6,609.9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4443983"/>
            <a:ext cx="1993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55677B"/>
                </a:solidFill>
                <a:latin typeface="Lato"/>
              </a:defRPr>
            </a:pPr>
            <a:r>
              <a:t>2 repairs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4443983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0243A"/>
                </a:solidFill>
                <a:latin typeface="Lato"/>
              </a:defRPr>
            </a:pPr>
            <a:r>
              <a:t>9,214.1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5230368"/>
            <a:ext cx="3913632" cy="393192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5312664"/>
            <a:ext cx="3730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A56805"/>
                </a:solidFill>
                <a:latin typeface="Lato"/>
              </a:defRPr>
            </a:pPr>
            <a:r>
              <a:t>More retries ≠ higher success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080760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Simple L1 tasks: 90% → 80% → 90%; unnecessary repair can misread benign warnings.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What this evidence establishes—and what remains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A promising workflow result with a bounded empirical scope.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IV–V; reporting limitations identified from the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5303520" cy="3502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50292" cy="3502152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478024"/>
            <a:ext cx="49011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007F78"/>
                </a:solidFill>
                <a:latin typeface="Lato"/>
              </a:defRPr>
            </a:pPr>
            <a:r>
              <a:t>Supported by this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118104"/>
            <a:ext cx="4901183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0243A"/>
                </a:solidFill>
                <a:latin typeface="Lato"/>
              </a:defRPr>
            </a:pPr>
            <a:r>
              <a:t>Higher L3 execution success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0243A"/>
                </a:solidFill>
                <a:latin typeface="Lato"/>
              </a:defRPr>
            </a:p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0243A"/>
                </a:solidFill>
                <a:latin typeface="Lato"/>
              </a:defRPr>
            </a:pPr>
            <a:r>
              <a:t>Lower tokens and reported TTI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0243A"/>
                </a:solidFill>
                <a:latin typeface="Lato"/>
              </a:defRPr>
            </a:p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0243A"/>
                </a:solidFill>
                <a:latin typeface="Lato"/>
              </a:defRPr>
            </a:pPr>
            <a:r>
              <a:t>Recovery gains with one repair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2286000"/>
            <a:ext cx="5303520" cy="3502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2286000"/>
            <a:ext cx="50292" cy="3502152"/>
          </a:xfrm>
          <a:prstGeom prst="rect">
            <a:avLst/>
          </a:prstGeom>
          <a:solidFill>
            <a:srgbClr val="236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2478024"/>
            <a:ext cx="49011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2363C6"/>
                </a:solidFill>
                <a:latin typeface="Lato"/>
              </a:defRPr>
            </a:pPr>
            <a:r>
              <a:t>Open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118104"/>
            <a:ext cx="4901183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0243A"/>
                </a:solidFill>
                <a:latin typeface="Lato"/>
              </a:defRPr>
            </a:pPr>
            <a:r>
              <a:t>30 tasks; one evaluated backbone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0243A"/>
                </a:solidFill>
                <a:latin typeface="Lato"/>
              </a:defRPr>
            </a:p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0243A"/>
                </a:solidFill>
                <a:latin typeface="Lato"/>
              </a:defRPr>
            </a:pPr>
            <a:r>
              <a:t>Components not isolated individually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0243A"/>
                </a:solidFill>
                <a:latin typeface="Lato"/>
              </a:defRPr>
            </a:p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0243A"/>
                </a:solidFill>
                <a:latin typeface="Lato"/>
              </a:defRPr>
            </a:pPr>
            <a:r>
              <a:t>KPI optimization lacks a quantitative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0243A"/>
                </a:solidFill>
                <a:latin typeface="Lato"/>
              </a:defRPr>
            </a:pPr>
            <a:r>
              <a:t>convergence or optimality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601675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07F78"/>
                </a:solidFill>
                <a:latin typeface="Lato"/>
              </a:defRPr>
            </a:pPr>
            <a:r>
              <a:t>Next: broader benchmarks, component-level ablations, and measured KPI optimization.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64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4D7C5"/>
                </a:solidFill>
                <a:latin typeface="Lato"/>
              </a:defRPr>
            </a:pPr>
            <a: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FFFFFF"/>
                </a:solidFill>
                <a:latin typeface="Lato"/>
              </a:defRPr>
            </a:pPr>
            <a:r>
              <a:t>Reliable automation needs explicit coordination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9BCD0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9BCD0"/>
                </a:solidFill>
                <a:latin typeface="Lato"/>
              </a:defRPr>
            </a:pPr>
            <a:r>
              <a:t>Evidence: Table I, complex tasks (L3)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A9BCD0"/>
                </a:solidFill>
                <a:latin typeface="Lato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9751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FFFFFF"/>
                </a:solidFill>
                <a:latin typeface="Lato"/>
              </a:defRPr>
            </a:pPr>
            <a:r>
              <a:t>Specialized reasoning  +  persistent artifacts  +  bounded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72384"/>
            <a:ext cx="3611880" cy="2130552"/>
          </a:xfrm>
          <a:prstGeom prst="roundRect">
            <a:avLst>
              <a:gd name="adj" fmla="val 12000"/>
            </a:avLst>
          </a:prstGeom>
          <a:solidFill>
            <a:srgbClr val="1D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19272"/>
            <a:ext cx="315468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5700" b="1">
                <a:solidFill>
                  <a:srgbClr val="64D7C5"/>
                </a:solidFill>
                <a:latin typeface="Lato"/>
              </a:defRPr>
            </a:pPr>
            <a: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315968"/>
            <a:ext cx="3108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Lato"/>
              </a:defRPr>
            </a:pPr>
            <a:r>
              <a:t>L3 task 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855464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A9BCD0"/>
                </a:solidFill>
                <a:latin typeface="Lato"/>
              </a:defRPr>
            </a:pPr>
            <a:r>
              <a:t>70% monolithic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3072384"/>
            <a:ext cx="3611880" cy="2130552"/>
          </a:xfrm>
          <a:prstGeom prst="roundRect">
            <a:avLst>
              <a:gd name="adj" fmla="val 12000"/>
            </a:avLst>
          </a:prstGeom>
          <a:solidFill>
            <a:srgbClr val="1D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3319272"/>
            <a:ext cx="315468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5700" b="1">
                <a:solidFill>
                  <a:srgbClr val="64D7C5"/>
                </a:solidFill>
                <a:latin typeface="Lato"/>
              </a:defRPr>
            </a:pPr>
            <a:r>
              <a:t>−47%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4315968"/>
            <a:ext cx="3108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Lato"/>
              </a:defRPr>
            </a:pPr>
            <a:r>
              <a:t>L3 token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4855464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A9BCD0"/>
                </a:solidFill>
                <a:latin typeface="Lato"/>
              </a:defRPr>
            </a:pPr>
            <a:r>
              <a:t>11,404.7 → 6,028.7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5" y="3072384"/>
            <a:ext cx="3611880" cy="2130552"/>
          </a:xfrm>
          <a:prstGeom prst="roundRect">
            <a:avLst>
              <a:gd name="adj" fmla="val 12000"/>
            </a:avLst>
          </a:prstGeom>
          <a:solidFill>
            <a:srgbClr val="1D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4776" y="3319272"/>
            <a:ext cx="315468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5700" b="1">
                <a:solidFill>
                  <a:srgbClr val="64D7C5"/>
                </a:solidFill>
                <a:latin typeface="Lato"/>
              </a:defRPr>
            </a:pPr>
            <a:r>
              <a:t>≈5×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3" y="4315968"/>
            <a:ext cx="3108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Lato"/>
              </a:defRPr>
            </a:pPr>
            <a:r>
              <a:t>L3 TTI speedup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3" y="4855464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A9BCD0"/>
                </a:solidFill>
                <a:latin typeface="Lato"/>
              </a:defRPr>
            </a:pPr>
            <a:r>
              <a:t>41.4 s → 8.3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769864"/>
            <a:ext cx="1092708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FFFFFF"/>
                </a:solidFill>
                <a:latin typeface="Lato"/>
              </a:defRPr>
            </a:pPr>
            <a:r>
              <a:t>Natural-language objectives → executable, inspectable SUMO workflows.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64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4D7C5"/>
                </a:solidFill>
                <a:latin typeface="Lato"/>
              </a:defRPr>
            </a:pPr>
            <a:r>
              <a:t>DISCUSSION /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FFFFFF"/>
                </a:solidFill>
                <a:latin typeface="Lato"/>
              </a:defRPr>
            </a:pPr>
            <a:r>
              <a:t>Thank you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1D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9BCD0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A9BCD0"/>
                </a:solidFill>
                <a:latin typeface="Lato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48840"/>
            <a:ext cx="9875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5800" b="1">
                <a:solidFill>
                  <a:srgbClr val="FFFFFF"/>
                </a:solidFill>
                <a:latin typeface="Lato"/>
              </a:defRPr>
            </a:pPr>
            <a: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767328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64D7C5"/>
                </a:solidFill>
                <a:latin typeface="Lato"/>
              </a:defRPr>
            </a:pPr>
            <a:r>
              <a:t>Decoupled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562856"/>
            <a:ext cx="9875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FFFFFF"/>
                </a:solidFill>
                <a:latin typeface="Lato"/>
              </a:defRPr>
            </a:pPr>
            <a:r>
              <a:t>Shuyang Li  ·  Ruimin Ke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FFFFFF"/>
                </a:solidFill>
                <a:latin typeface="Lato"/>
              </a:defRPr>
            </a:pPr>
            <a:r>
              <a:t>Rensselaer Polytechnic Institute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5888736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A9BCD0"/>
                </a:solidFill>
                <a:latin typeface="Lato"/>
              </a:defRPr>
            </a:pPr>
            <a:r>
              <a:t>Supported by the IBM–RPI Future of Computing Research Collaboration.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BACKUP B1 / ARCHITECTURE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Full results: monolithic vs.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Exact values from Table I. ↑ Higher is better; ↓ lower is better.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Table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B1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" y="2286000"/>
          <a:ext cx="10844784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520440"/>
                <a:gridCol w="2382012"/>
                <a:gridCol w="2382012"/>
              </a:tblGrid>
              <a:tr h="352044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Complexity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Metric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Monolithic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Multi-agent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L1 · Basic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Success rate (%) ↑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100.0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90.0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Average tokens ↓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8,529.2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4,845.5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TTI (s) ↓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19.8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6.2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L2 · Intermediate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Success rate (%) ↑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100.0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100.0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Average tokens ↓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9,690.3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5,310.1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TTI (s) ↓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22.7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7.3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L3 · Complex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Success rate (%) ↑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70.0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90.0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Average tokens ↓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11,404.7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6,028.7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TTI (s) ↓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41.4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8.3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2376" y="6080760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Overall architecture comparison; individual components are not isolated in this 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BACKUP B2 / REPAIR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Full results: the repair-budget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Exact values from Table II. Compare repair budgets within this experiment.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Table II; Sec. IV-D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B2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" y="2377440"/>
          <a:ext cx="10844784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788920"/>
                <a:gridCol w="1847088"/>
                <a:gridCol w="1847088"/>
                <a:gridCol w="1847088"/>
              </a:tblGrid>
              <a:tr h="429768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Complexity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Metric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0 repairs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1 repair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2 repairs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L1 · Basic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Success rate (%) ↑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90.0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80.0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90.0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Average tokens ↓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4,969.1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5,530.3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6,752.6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L2 · Intermediate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Success rate (%) ↑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30.0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50.0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50.0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Average tokens ↓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3,601.6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6,829.5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8,484.8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L3 · Complex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Success rate (%) ↑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30.0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50.0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50.0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Average tokens ↓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3,981.6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6,609.9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9,214.1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76656" y="5650992"/>
            <a:ext cx="10835640" cy="457200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5742432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A56805"/>
                </a:solidFill>
                <a:latin typeface="Lato"/>
              </a:defRPr>
            </a:pPr>
            <a:r>
              <a:t>No additional L2/L3 success gain from a second attempt; token use continues to rise.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BACKUP B3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What each worker receives and produces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00200"/>
            <a:ext cx="11064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77B"/>
                </a:solidFill>
                <a:latin typeface="Lato"/>
              </a:defRPr>
            </a:pPr>
            <a:r>
              <a:t>Role contracts and artifact dependencies, simplified from the methodology and prompt appendices.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III-C; Appendix II–III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B3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2340864"/>
          <a:ext cx="10853928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657600"/>
                <a:gridCol w="3081528"/>
                <a:gridCol w="2651760"/>
              </a:tblGrid>
              <a:tr h="484632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Worker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Required context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Responsibility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Output</a:t>
                      </a:r>
                    </a:p>
                  </a:txBody>
                  <a:tcPr marL="137160" marR="73152" marT="54864" marB="36576" anchor="ctr">
                    <a:solidFill>
                      <a:srgbClr val="10243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Builder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City / geographic extent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Build network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.net.xml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Modifier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Network + requested edit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Apply topology / TLS edit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Updated .net.xml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Demand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Validated network + flow / O–D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Generate matching demand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.rou.xml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Runner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Network + routes + run settings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Configure and execute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.sumocfg + outputs</a:t>
                      </a:r>
                    </a:p>
                  </a:txBody>
                  <a:tcPr marL="137160" marR="73152" marT="54864" marB="36576" anchor="ctr">
                    <a:solidFill>
                      <a:srgbClr val="E7EDF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Analyst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Simulation outputs + metric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0243A"/>
                          </a:solidFill>
                          <a:latin typeface="Lato"/>
                        </a:defRPr>
                      </a:pPr>
                      <a:r>
                        <a:t>Aggregate KPIs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7F78"/>
                          </a:solidFill>
                          <a:latin typeface="Lato"/>
                        </a:defRPr>
                      </a:pPr>
                      <a:r>
                        <a:t>Metrics + feedback</a:t>
                      </a:r>
                    </a:p>
                  </a:txBody>
                  <a:tcPr marL="137160" marR="73152" marT="54864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7512" y="5486400"/>
            <a:ext cx="5230368" cy="649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5660136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07F78"/>
                </a:solidFill>
                <a:latin typeface="Lato"/>
              </a:defRPr>
            </a:pPr>
            <a:r>
              <a:t>One active role per planned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5660136"/>
            <a:ext cx="50566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07F78"/>
                </a:solidFill>
                <a:latin typeface="Lato"/>
              </a:defRPr>
            </a:pPr>
            <a:r>
              <a:t>Skip Modifier when no edit is requested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56032" cy="41148"/>
          </a:xfrm>
          <a:prstGeom prst="rect">
            <a:avLst/>
          </a:prstGeom>
          <a:solidFill>
            <a:srgbClr val="00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7F78"/>
                </a:solidFill>
                <a:latin typeface="Lato"/>
              </a:defRPr>
            </a:pPr>
            <a:r>
              <a:t>BACKUP B4 /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10243A"/>
                </a:solidFill>
                <a:latin typeface="Lato"/>
              </a:defRPr>
            </a:pPr>
            <a:r>
              <a:t>Answers to likely design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288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DECOUPLED INTELLIGENCE  /  ITSC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6505956"/>
            <a:ext cx="7040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55677B"/>
                </a:solidFill>
                <a:latin typeface="Lato"/>
              </a:defRPr>
            </a:pPr>
            <a:r>
              <a:t>Source: Sec. III–V; Table I–II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8766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55677B"/>
                </a:solidFill>
                <a:latin typeface="Lato"/>
              </a:defRPr>
            </a:pPr>
            <a:r>
              <a:t>B4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865376"/>
            <a:ext cx="10835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02536"/>
            <a:ext cx="3858768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07F78"/>
                </a:solidFill>
                <a:latin typeface="Lato"/>
              </a:defRPr>
            </a:pPr>
            <a:r>
              <a:t>Why not a stronger single agent?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011680"/>
            <a:ext cx="62727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0243A"/>
                </a:solidFill>
                <a:latin typeface="Lato"/>
              </a:defRPr>
            </a:pPr>
            <a:r>
              <a:t>This study compares one backbone and one monolithic ReAct design. Broader baselines remain to be tested.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2926080"/>
            <a:ext cx="10835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063240"/>
            <a:ext cx="3858768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07F78"/>
                </a:solidFill>
                <a:latin typeface="Lato"/>
              </a:defRPr>
            </a:pPr>
            <a:r>
              <a:t>Does MCP itself prevent path errors?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072384"/>
            <a:ext cx="62727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0243A"/>
                </a:solidFill>
                <a:latin typeface="Lato"/>
              </a:defRPr>
            </a:pPr>
            <a:r>
              <a:t>MCP standardizes tool access. The Orchestrator manages validated artifact references and dependencies.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986783"/>
            <a:ext cx="10835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123944"/>
            <a:ext cx="3858768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07F78"/>
                </a:solidFill>
                <a:latin typeface="Lato"/>
              </a:defRPr>
            </a:pPr>
            <a:r>
              <a:t>Is traffic KPI optimization proven?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4133087"/>
            <a:ext cx="62727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0243A"/>
                </a:solidFill>
                <a:latin typeface="Lato"/>
              </a:defRPr>
            </a:pPr>
            <a:r>
              <a:t>The feedback mechanism is designed for it. Reported quantitative results focus on execution and repair.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5047488"/>
            <a:ext cx="10835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184648"/>
            <a:ext cx="3858768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07F78"/>
                </a:solidFill>
                <a:latin typeface="Lato"/>
              </a:defRPr>
            </a:pPr>
            <a:r>
              <a:t>Do more agents or retries always help?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5193792"/>
            <a:ext cx="62727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0243A"/>
                </a:solidFill>
                <a:latin typeface="Lato"/>
              </a:defRPr>
            </a:pPr>
            <a:r>
              <a:t>No. L1 success is lower in Table I; a second repair adds tokens without improving L2/L3 success in Table 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Decoupled Intelligence: A Multi-Agent LLM Framework for Controllable Traffic Scenario Generation in SUMO</dc:title>
  <dc:subject>ITSC oral presentation draft; 12–15 minutes</dc:subject>
  <dc:creator>Shuyang Li; Ruimin Ke</dc:creator>
  <cp:keywords>SUMO, LLM, multi-agent, ITSC, traffic simulation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