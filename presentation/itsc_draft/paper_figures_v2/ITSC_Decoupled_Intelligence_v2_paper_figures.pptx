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Monolithic</c:v>
                </c:pt>
              </c:strCache>
            </c:strRef>
          </c:tx>
          <c:spPr>
            <a:solidFill>
              <a:srgbClr val="8294AB"/>
            </a:solidFill>
            <a:ln>
              <a:solidFill>
                <a:srgbClr val="8294AB"/>
              </a:solidFill>
            </a:ln>
          </c:spPr>
          <c:cat>
            <c:strRef>
              <c:f>Sheet1!$A$2:$A$4</c:f>
              <c:strCache>
                <c:ptCount val="3"/>
                <c:pt idx="0">
                  <c:v>L1 · Basic</c:v>
                </c:pt>
                <c:pt idx="1">
                  <c:v>L2 · Intermediate</c:v>
                </c:pt>
                <c:pt idx="2">
                  <c:v>L3 · Complex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</c:v>
                </c:pt>
              </c:strCache>
            </c:strRef>
          </c:tx>
          <c:spPr>
            <a:solidFill>
              <a:srgbClr val="007F78"/>
            </a:solidFill>
            <a:ln>
              <a:solidFill>
                <a:srgbClr val="007F78"/>
              </a:solidFill>
            </a:ln>
          </c:spPr>
          <c:cat>
            <c:strRef>
              <c:f>Sheet1!$A$2:$A$4</c:f>
              <c:strCache>
                <c:ptCount val="3"/>
                <c:pt idx="0">
                  <c:v>L1 · Basic</c:v>
                </c:pt>
                <c:pt idx="1">
                  <c:v>L2 · Intermediate</c:v>
                </c:pt>
                <c:pt idx="2">
                  <c:v>L3 · Complex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100</c:v>
                </c:pt>
                <c:pt idx="2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500" b="1">
                  <a:solidFill>
                    <a:srgbClr val="10243A"/>
                  </a:solidFill>
                  <a:latin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E1EB"/>
            </a:solidFill>
          </a:ln>
        </c:spPr>
        <c:txPr>
          <a:bodyPr/>
          <a:lstStyle/>
          <a:p>
            <a:pPr>
              <a:defRPr sz="1500">
                <a:solidFill>
                  <a:srgbClr val="10243A"/>
                </a:solidFill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 w="8255">
              <a:solidFill>
                <a:srgbClr val="D8E1EB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5677B"/>
                </a:solidFill>
                <a:latin typeface="Lato"/>
              </a:defRPr>
            </a:pPr>
          </a:p>
        </c:txPr>
        <c:crossAx val="-2068027336"/>
        <c:crosses val="autoZero"/>
        <c:majorUnit val="25.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400">
          <a:solidFill>
            <a:srgbClr val="55677B"/>
          </a:solidFill>
          <a:latin typeface="Lato"/>
        </a:defRPr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Monolithic</c:v>
                </c:pt>
              </c:strCache>
            </c:strRef>
          </c:tx>
          <c:spPr>
            <a:solidFill>
              <a:srgbClr val="8294AB"/>
            </a:solidFill>
            <a:ln>
              <a:solidFill>
                <a:srgbClr val="8294AB"/>
              </a:solidFill>
            </a:ln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8529.2</c:v>
                </c:pt>
                <c:pt idx="1">
                  <c:v>9690.3</c:v>
                </c:pt>
                <c:pt idx="2">
                  <c:v>11404.7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</c:v>
                </c:pt>
              </c:strCache>
            </c:strRef>
          </c:tx>
          <c:spPr>
            <a:solidFill>
              <a:srgbClr val="007F78"/>
            </a:solidFill>
            <a:ln>
              <a:solidFill>
                <a:srgbClr val="007F78"/>
              </a:solidFill>
            </a:ln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4845.5</c:v>
                </c:pt>
                <c:pt idx="1">
                  <c:v>5310.1</c:v>
                </c:pt>
                <c:pt idx="2">
                  <c:v>6028.7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0243A"/>
                  </a:solidFill>
                  <a:latin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E1EB"/>
            </a:solidFill>
          </a:ln>
        </c:spPr>
        <c:txPr>
          <a:bodyPr/>
          <a:lstStyle/>
          <a:p>
            <a:pPr>
              <a:defRPr sz="1500">
                <a:solidFill>
                  <a:srgbClr val="10243A"/>
                </a:solidFill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.0"/>
          <c:min val="0.0"/>
        </c:scaling>
        <c:delete val="0"/>
        <c:axPos val="l"/>
        <c:majorGridlines>
          <c:spPr>
            <a:ln w="8255">
              <a:solidFill>
                <a:srgbClr val="D8E1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5677B"/>
                </a:solidFill>
                <a:latin typeface="Lato"/>
              </a:defRPr>
            </a:pPr>
          </a:p>
        </c:txPr>
        <c:crossAx val="-2068027336"/>
        <c:crosses val="autoZero"/>
        <c:majorUnit val="4000.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400">
          <a:solidFill>
            <a:srgbClr val="55677B"/>
          </a:solidFill>
          <a:latin typeface="Lato"/>
        </a:defRPr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Monolithic</c:v>
                </c:pt>
              </c:strCache>
            </c:strRef>
          </c:tx>
          <c:spPr>
            <a:solidFill>
              <a:srgbClr val="8294AB"/>
            </a:solidFill>
            <a:ln>
              <a:solidFill>
                <a:srgbClr val="8294AB"/>
              </a:solidFill>
            </a:ln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19.8</c:v>
                </c:pt>
                <c:pt idx="1">
                  <c:v>22.7</c:v>
                </c:pt>
                <c:pt idx="2">
                  <c:v>41.4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</c:v>
                </c:pt>
              </c:strCache>
            </c:strRef>
          </c:tx>
          <c:spPr>
            <a:solidFill>
              <a:srgbClr val="007F78"/>
            </a:solidFill>
            <a:ln>
              <a:solidFill>
                <a:srgbClr val="007F78"/>
              </a:solidFill>
            </a:ln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6.2</c:v>
                </c:pt>
                <c:pt idx="1">
                  <c:v>7.3</c:v>
                </c:pt>
                <c:pt idx="2">
                  <c:v>8.3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300" b="1">
                  <a:solidFill>
                    <a:srgbClr val="10243A"/>
                  </a:solidFill>
                  <a:latin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E1EB"/>
            </a:solidFill>
          </a:ln>
        </c:spPr>
        <c:txPr>
          <a:bodyPr/>
          <a:lstStyle/>
          <a:p>
            <a:pPr>
              <a:defRPr sz="1500">
                <a:solidFill>
                  <a:srgbClr val="10243A"/>
                </a:solidFill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>
          <c:spPr>
            <a:ln w="8255">
              <a:solidFill>
                <a:srgbClr val="D8E1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5677B"/>
                </a:solidFill>
                <a:latin typeface="Lato"/>
              </a:defRPr>
            </a:pPr>
          </a:p>
        </c:txPr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400">
          <a:solidFill>
            <a:srgbClr val="55677B"/>
          </a:solidFill>
          <a:latin typeface="Lato"/>
        </a:defRPr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L2 and L3</c:v>
                </c:pt>
              </c:strCache>
            </c:strRef>
          </c:tx>
          <c:spPr>
            <a:solidFill>
              <a:srgbClr val="007F78"/>
            </a:solidFill>
            <a:ln w="38100">
              <a:solidFill>
                <a:srgbClr val="007F78"/>
              </a:solidFill>
            </a:ln>
          </c:spPr>
          <c:marker>
            <c:symbol val="circle"/>
            <c:size val="9"/>
            <c:spPr>
              <a:solidFill>
                <a:srgbClr val="007F78"/>
              </a:solidFill>
              <a:ln>
                <a:solidFill>
                  <a:srgbClr val="007F78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0 repairs</c:v>
                </c:pt>
                <c:pt idx="1">
                  <c:v>1 repair</c:v>
                </c:pt>
                <c:pt idx="2">
                  <c:v>2 repairs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50</c:v>
                </c:pt>
                <c:pt idx="2">
                  <c:v>50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sz="1500" b="1">
                  <a:solidFill>
                    <a:srgbClr val="10243A"/>
                  </a:solidFill>
                  <a:latin typeface="Lat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E1EB"/>
            </a:solidFill>
          </a:ln>
        </c:spPr>
        <c:txPr>
          <a:bodyPr/>
          <a:lstStyle/>
          <a:p>
            <a:pPr>
              <a:defRPr sz="1500">
                <a:solidFill>
                  <a:srgbClr val="10243A"/>
                </a:solidFill>
                <a:latin typeface="Lato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 w="8255">
              <a:solidFill>
                <a:srgbClr val="D8E1EB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5677B"/>
                </a:solidFill>
                <a:latin typeface="Lato"/>
              </a:defRPr>
            </a:pPr>
          </a:p>
        </c:txPr>
        <c:crossAx val="2118791784"/>
        <c:crosses val="autoZero"/>
        <c:majorUnit val="25.0"/>
      </c:valAx>
      <c:spPr>
        <a:noFill/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1400">
          <a:solidFill>
            <a:srgbClr val="55677B"/>
          </a:solidFill>
          <a:latin typeface="Lato"/>
        </a:defRPr>
      </a:pPr>
      <a:endParaRPr lang="en-US"/>
    </a:p>
  </c:txPr>
  <c:externalData r:id="rId1">
    <c:autoUpdate val="0"/>
  </c:externalData>
  <c:spPr>
    <a:noFill/>
    <a:ln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Decoupled Intelligence</a:t>
            </a:r>
          </a:p>
          <a:p>
            <a:pPr>
              <a:defRPr sz="1200">
                <a:latin typeface="Noto Sans CJK SC"/>
              </a:defRPr>
            </a:pPr>
            <a:r>
              <a:t>建议时长：35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开场先讲研究问题：我们希望用户用自然语言描述一个交通场景，系统就能在 SUMO 中完成建网、生成需求、运行和指标分析。真正的难点不是生成某一份 XML，而是让整个多步骤流程保持一致。这篇工作的核心是把推理职责拆开，并把文件状态交给明确的编排层管理。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Let me start with a traffic question that sounds simple, but requires a surprisingly long workflow.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论文首页：标题、作者、单位；Sec. 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One traffic question spans an entire workflow</a:t>
            </a:r>
          </a:p>
          <a:p>
            <a:pPr>
              <a:defRPr sz="1200">
                <a:latin typeface="Noto Sans CJK SC"/>
              </a:defRPr>
            </a:pPr>
            <a:r>
              <a:t>建议时长：55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这一页直接使用论文 Fig. 1。先指用户输入：用户希望建网、生成路线、运行，并朝一个速度目标调整。再沿着 Planner、工人角色、工具接口和右边的状态仓库讲过去，不逐字读原图。重点是一个自然语言目标涉及多项有依赖的操作，因此需要持续保存状态。图中 50 mph 是示例请求中的目标，不是论文实验证明已达到的优化结果。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challenge is keeping these dependent steps consistent from beginning to end.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论文 Fig. 1 原始嵌入图，未改动图内内容。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</a:t>
            </a:r>
          </a:p>
          <a:p>
            <a:pPr>
              <a:defRPr sz="1200">
                <a:latin typeface="Noto Sans CJK SC"/>
              </a:defRPr>
            </a:pPr>
            <a:r>
              <a:t>Fig. 1 使用 Controller Agent 标签，Fig. 2 与正文使用 Modifier。主讲此页按概念总览解释；具体角色和执行顺序以第 4 页 Fig. 2 及正文为准。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A single context must remember every dependency</a:t>
            </a:r>
          </a:p>
          <a:p>
            <a:pPr>
              <a:defRPr sz="1200">
                <a:latin typeface="Noto Sans CJK SC"/>
              </a:defRPr>
            </a:pPr>
            <a:r>
              <a:t>建议时长：50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这里说的是论文实际比较的单体 ReAct 基线。它把所有工具和整个历史放进同一上下文，既要理解任务，又要记文件位置，还要处理封路、路由和重试。论文对失败日志的分析指出路径引用错误与推理漂移。参数不一致也是设计动机之一。不要把这一页扩大成“所有单智能体系统都会失败”的结论；问题是这种具体组织方式面对长流程时的可靠性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Our response is to separate the reasoning roles and make the execution state explicit.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IV-A 基线定义；Sec. IV-C / IV-E 失败分析；Sec. I 参数一致性动机。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Separate reasoning roles. Make state explicit.</a:t>
            </a:r>
          </a:p>
          <a:p>
            <a:pPr>
              <a:defRPr sz="1200">
                <a:latin typeface="Noto Sans CJK SC"/>
              </a:defRPr>
            </a:pPr>
            <a:r>
              <a:t>建议时长：80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本页完整展示论文 Fig. 2，按三层讲解。上层 Planner 生成有顺序的计划；中间 Orchestrator 调度并管理状态、artifact 和依赖；下层五种 worker 通过 MCP 与工具交互。用右侧三个大字帮助听众跟上，不要求听众阅读所有图内小字。说明一个 Planner 加五种 worker；Orchestrator 是系统编排组件。图中并排摆放角色不代表各阶段可以忽略依赖并行运行。下一页会放大中间状态管理部分。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Let us zoom in on the state layer, where the artifact handover happens.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论文 Fig. 2 原图；使用同目录 Framework_cropped.pdf 高清渲染。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</a:t>
            </a:r>
          </a:p>
          <a:p>
            <a:pPr>
              <a:defRPr sz="1200">
                <a:latin typeface="Noto Sans CJK SC"/>
              </a:defRPr>
            </a:pPr>
            <a:r>
              <a:t>原图完整保留。MCP 是工具接口协议；状态持久化与依赖校验由编排实现。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Route generation uses the validated network</a:t>
            </a:r>
          </a:p>
          <a:p>
            <a:pPr>
              <a:defRPr sz="1200">
                <a:latin typeface="Noto Sans CJK SC"/>
              </a:defRPr>
            </a:pPr>
            <a:r>
              <a:t>建议时长：60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本页上半部分是 Fig. 2 中间层的原图放大，重点指向 StateTable、ArtifactsTable 和 DependencyTable。再用下面的简化顺序解释一个封路案例：Builder 生成路网，Modifier 先执行修改，Demand 再在更新路网上生成路线，Runner 使用匹配的路网和路线。文件交接由编排和状态仓库明确处理，而不是依靠模型记住聊天里的路径。下方流程条是可编辑的讲解标注，并不是另一张实验截图。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same dependency discipline appears in the Planner example shown in the paper.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Fig. 2 状态层原图裁切放大；Sec. III-C。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</a:t>
            </a:r>
          </a:p>
          <a:p>
            <a:pPr>
              <a:defRPr sz="1200">
                <a:latin typeface="Noto Sans CJK SC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The Planner turns intent into ordered contracts</a:t>
            </a:r>
          </a:p>
          <a:p>
            <a:pPr>
              <a:defRPr sz="1200">
                <a:latin typeface="Noto Sans CJK SC"/>
              </a:defRPr>
            </a:pPr>
            <a:r>
              <a:t>建议时长：60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这一页使用论文 Fig. 3 的真实图像素材：左侧是原始 user input，右侧是原图中的路网截图。讲波士顿封路和每小时 800 辆车的 OD 需求，强调先修改路网再生成需求，然后运行并分析等待时间。下面的流程文字用于让观众快速理解原图中的计划结构。右图是论文展示的路网，不要把它说成新执行的实时 demo，或声称它证明了封路、800 veh/h 和 KPI 已全部验证成功。完整 Fig. 3 在备用 B5。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Even with explicit contracts, execution can still fail. That is where feedback enters the workflow.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Fig. 3 原始 user input 区域与原始嵌入路网图；Appendix II。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</a:t>
            </a:r>
          </a:p>
          <a:p>
            <a:pPr>
              <a:defRPr sz="1200">
                <a:latin typeface="Noto Sans CJK SC"/>
              </a:defRPr>
            </a:pPr>
            <a:r>
              <a:t>原图保留 1.5 km 请求。完整 Fig. 3 中还出现 1.5 miles 以及 0.932056788 miles，存在单位表述不一致；本次未悄悄修改原图。讲解时不把该图当作已验证的单位对齐证据。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Two feedback loops address two different problems</a:t>
            </a:r>
          </a:p>
          <a:p>
            <a:pPr>
              <a:defRPr sz="1200">
                <a:latin typeface="Noto Sans CJK SC"/>
              </a:defRPr>
            </a:pPr>
            <a:r>
              <a:t>建议时长：65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明确区分两条返回路径。第一条是执行级错误，例如文件缺失或路线不可达，系统把结构化错误送回 Planner 重新规划。第二条是在仿真执行有效之后，Analyst 检查指标是否满足用户目标；未达到目标则反馈给 Planner 调整。循环有次数上限。这里展示的是论文提出的双层设计；后面的定量实验主要测的是修复预算对任务成功率的影响，不能把它说成已经量化证明了交通 KPI 的最优性或收敛性。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We evaluate the system first as an execution architecture, and then as a repair mechanism.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III-B；Algorithm 1；Sec. IV-D。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30 tasks test increasing dependency complexity</a:t>
            </a:r>
          </a:p>
          <a:p>
            <a:pPr>
              <a:defRPr sz="1200">
                <a:latin typeface="Noto Sans CJK SC"/>
              </a:defRPr>
            </a:pPr>
            <a:r>
              <a:t>建议时长：55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实验使用 SUMO 1.21.0 和论文所写的 Qwen3-30B-Coder，共 30 个任务。L1 是基本建网和定性需求；L2 需要特定起终点与参数对齐；L3 增加生成需求前的路网结构修改。评价三个量：成功率表示配置有效且运行没有物理错误；平均 token 是全流程输入输出消耗；Time-to-Insight 是从用户输入到拿到第一个有效 KPI 的总墙钟时间。不要把 TTI 说成纯 SUMO 内核运行时间，也不要把成功率说成所有交通目标都已达成。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largest reliability difference appears in the most complex tasks.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IV-A / IV-B；任务总数为 30，正文未明确给出各层级样本量。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沿用论文模型名称，未自行改写成另一模型版本。论文未完整报告硬件、推理服务和计时纳入项；绝对时延应限制在所报告设置内解释。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Complex-task success rises from 70% to 90%</a:t>
            </a:r>
          </a:p>
          <a:p>
            <a:pPr>
              <a:defRPr sz="1200">
                <a:latin typeface="Noto Sans CJK SC"/>
              </a:defRPr>
            </a:pPr>
            <a:r>
              <a:t>建议时长：70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先指右侧：在最复杂的 L3，成功率从 70% 提升到 90%，是增加 20 个百分点。然后带观众看左边完整结果：L2 两者都是 100%；L1 单体是 100%，多智能体是 90%。因此这不是每种任务都全面胜出的结果，而是优势主要体现在依赖复杂的任务。可以补充论文失败日志提示路径引用错误与推理漂移，但不要把归因说成独立受控消融已经证明。样本较小且表中没有置信区间，不使用“统计显著”措辞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reliability gain is accompanied by lower token use and a shorter time to the first valid result.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I；Sec. IV-C。+20 pp = 90% − 70%。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这是整体架构对比，不能拆成“单独增加 Planner / MCP / state 各贡献多少”。L1 降低不能直接用 Table II 的 overthinking 现象作未经验证的因果解释。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Fewer tokens and a shorter path to the first KPI</a:t>
            </a:r>
          </a:p>
          <a:p>
            <a:pPr>
              <a:defRPr sz="1200">
                <a:latin typeface="Noto Sans CJK SC"/>
              </a:defRPr>
            </a:pPr>
            <a:r>
              <a:t>建议时长：70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先讲左图：三个难度下 token 都下降，L3 从 11,404.7 到 6,028.7，减少 47.1%，比直接说“减半”更精确。右图是 Time-to-Insight，L3 从 41.4 秒到 8.3 秒，约五倍加速，也就是时间降低约 80%。论文的解释是角色只接收与子任务有关的上下文，减少冗余推理与无效重试。强调这些是该实验配置下的报告均值，不是对所有模型和部署的速度保证。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Next, we look separately at what happens when the system is allowed to repair its own errors.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I。L3 token reduction = (11404.7−6028.7)/11404.7 = 47.14%；TTI ratio = 41.4/8.3 = 4.99。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图中 token 标签为四舍五入整数；完整小数见备用页 B1。TTI 不等同于纯仿真运行耗时。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One repair attempt helps; a second adds cost</a:t>
            </a:r>
          </a:p>
          <a:p>
            <a:pPr>
              <a:defRPr sz="1200">
                <a:latin typeface="Noto Sans CJK SC"/>
              </a:defRPr>
            </a:pPr>
            <a:r>
              <a:t>建议时长：65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先说明这是另一个修复预算实验，不能与上一页的 90% 成功率直接拼成同一条提升链。Table II 中，L2 和 L3 都从不修复的 30% 提高到一次修复的 50%；第二次修复仍然是 50%。右侧展示代价：L3 token 从约 3,982 增至 6,610，再到 9,214。因此在这些任务里，一次修复已恢复大部分可恢复案例，再增加预算主要增加开销。L1 则出现 90、80、90 的波动，论文提到有时会把无车辆等良性警告当成失败。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These results also define the limits of what we can claim from this study.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II；Sec. IV-D。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论文未充分解释 Table I 与 Table II 各项实验配置的对应关系。主讲只做各表内部比较；答辩前应核对任务子集、初始状态、prompt、修复策略与统计口径。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What this evidence establishes—and what remains open</a:t>
            </a:r>
          </a:p>
          <a:p>
            <a:pPr>
              <a:defRPr sz="1200">
                <a:latin typeface="Noto Sans CJK SC"/>
              </a:defRPr>
            </a:pPr>
            <a:r>
              <a:t>建议时长：45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这一页主动划清结论边界。证据支持复杂流程的执行可靠性和效率改善，也支持有限修复预算带来恢复收益。但总共只有 30 个任务，实验只评估了一个 LLM backbone。所谓角色消融实际上是单体与完整框架比较，并未逐一隔离 Planner、状态仓库和角色专门化的贡献。双环架构包含 KPI 反馈，但没有报告 KPI 优化的收敛或最优性曲线。页底列的是基于这些局限提出的后续验证建议，不是假装论文已完成的实验。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main takeaway is a system design principle for reliable traffic simulation workflows.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IV-A、Table I–II、Sec. V；组件归因和 KPI 定量证据范围是对已报告内容的归纳。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Reliable automation needs explicit coordination</a:t>
            </a:r>
          </a:p>
          <a:p>
            <a:pPr>
              <a:defRPr sz="1200">
                <a:latin typeface="Noto Sans CJK SC"/>
              </a:defRPr>
            </a:pPr>
            <a:r>
              <a:t>建议时长：40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用三点收束：专门化角色减少上下文负担，持久化 artifact 保证跨步骤交接，有限反馈帮助恢复执行。最后只重复最关键的 L3 数字：90% 成功率，token 约减少 47%，Time-to-Insight 约五倍加速。再把数字与交通应用连接：目标是让自然语言需求变成可执行、可检查的 SUMO 工作流，降低场景搭建和迭代的门槛。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Thank you. I would be happy to take your questions.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III；Table I L3；Sec. 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Thank you / Q&amp;A</a:t>
            </a:r>
          </a:p>
          <a:p>
            <a:pPr>
              <a:defRPr sz="1200">
                <a:latin typeface="Noto Sans CJK SC"/>
              </a:defRPr>
            </a:pPr>
            <a:r>
              <a:t>建议时长：10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感谢听众并邀请提问。备用页：B1 完整架构对比、B2 修复预算结果、B3 角色契约、B4 常见问题、B5 论文完整 Fig. 3。主讲结束在第 14 页，不继续主动讲备用页。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Thank you for your attention. I would be happy to take your questions.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论文作者与单位；Acknowledgment。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</a:t>
            </a:r>
          </a:p>
          <a:p>
            <a:pPr>
              <a:defRPr sz="1200">
                <a:latin typeface="Noto Sans CJK SC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B1 — Full architecture comparison</a:t>
            </a:r>
          </a:p>
          <a:p>
            <a:pPr>
              <a:defRPr sz="1200">
                <a:latin typeface="Noto Sans CJK SC"/>
              </a:defRPr>
            </a:pPr>
            <a:r>
              <a:t>建议时长：0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备用页，按提问定位数据。若有人问简单任务表现，明确回答 L1 成功率是单体 100%、多智能体 90%；不能忽略这一点。若问“每个角色分别贡献多少”，说明该表对比的是完整系统与单体基线，并没有单独去掉某个角色的实验。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This table compares the two complete architectures; it does not isolate each component.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I，逐项转录。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B2 — Full repair-budget experiment</a:t>
            </a:r>
          </a:p>
          <a:p>
            <a:pPr>
              <a:defRPr sz="1200">
                <a:latin typeface="Noto Sans CJK SC"/>
              </a:defRPr>
            </a:pPr>
            <a:r>
              <a:t>建议时长：0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若被问两张表的成功率为何不同，诚实说明论文将其作为两个实验报告，当前稿件没有充分展开配置对应关系；不能未经核对就归因于更难任务、不同 seed 或另一个模型。展示这一表时只比较 0、1、2 次修复预算。另一个重点是最大修复次数，不表示每个任务都实际用了全部次数。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repair budget is a maximum number of attempts, and these comparisons are within Table II.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II；Sec. IV-D。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答辩前优先从原始运行记录补齐两组实验差异，不能现场推测。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B3 — Worker contracts</a:t>
            </a:r>
          </a:p>
          <a:p>
            <a:pPr>
              <a:defRPr sz="1200">
                <a:latin typeface="Noto Sans CJK SC"/>
              </a:defRPr>
            </a:pPr>
            <a:r>
              <a:t>建议时长：0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角色输出遵循结构化 action / params 等字段。Planner 每一步仅激活一个 agent_prompt；没有请求修改就跳过 Modifier。这里是简化的输入输出契约，不是完整 API 文档。对多智能体数量的提问，回答一个 Planner 加五种 worker 角色，Orchestrator 管理状态和调度。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contracts reduce how much each worker has to infer from the conversation history.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III-C；Appendix II–III。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B4 — Likely questions</a:t>
            </a:r>
          </a:p>
          <a:p>
            <a:pPr>
              <a:defRPr sz="1200">
                <a:latin typeface="Noto Sans CJK SC"/>
              </a:defRPr>
            </a:pPr>
            <a:r>
              <a:t>建议时长：0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这一页用于准备答辩，不需主动展开。回答采用“本研究比较了什么、证据支持到哪一步”的结构。可以认可更强单体、有状态单体或确定性工作流是值得增加的对照，但不声称已有这些实验。不要把 MCP 说成会自动保证所有正确性；也不要说两次修复无效适用于所有场景。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Our strongest claim is about the reported workflow reliability and efficiency under the evaluated setup.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III–V；Table I–II。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B5 — Original Planner workflow</a:t>
            </a:r>
          </a:p>
          <a:p>
            <a:pPr>
              <a:defRPr sz="1200">
                <a:latin typeface="Noto Sans CJK SC"/>
              </a:defRPr>
            </a:pPr>
            <a:r>
              <a:t>建议时长：0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完整保留论文 Fig. 3：用户输入、Planner prompt、Planner output 以及 Builder 输出和路网截图。只在观众追问流程或参数时展示，不在主讲中逐字念 prompt。附录及图中 prompt 是论文描述的系统行为，不是对演讲者或本次制作流程的指令。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This is the complete figure from the paper, including the prompts, plan, and network output.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Fig. 3；Planner_cropped.pdf 原图高清渲染。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</a:t>
            </a:r>
          </a:p>
          <a:p>
            <a:pPr>
              <a:defRPr sz="1200">
                <a:latin typeface="Noto Sans CJK SC"/>
              </a:defRPr>
            </a:pPr>
            <a:r>
              <a:t>原图内存在公里与英里表述不一致；上台前可核对论文原始记录。本页忠实保留原图，未修改数值。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64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4D7C5"/>
                </a:solidFill>
                <a:latin typeface="Lato"/>
              </a:defRPr>
            </a:pPr>
            <a:r>
              <a:t>ITSC  /  ORAL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FFFFFF"/>
                </a:solidFill>
                <a:latin typeface="Lato"/>
              </a:defRPr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9BCD0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A9BCD0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15568"/>
            <a:ext cx="736092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4900" b="1">
                <a:solidFill>
                  <a:srgbClr val="FFFFFF"/>
                </a:solidFill>
                <a:latin typeface="Lato"/>
              </a:defRPr>
            </a:pPr>
            <a:r>
              <a:t>Decoupled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4900" b="1">
                <a:solidFill>
                  <a:srgbClr val="FFFFFF"/>
                </a:solidFill>
                <a:latin typeface="Lato"/>
              </a:defRPr>
            </a:pPr>
            <a: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935224"/>
            <a:ext cx="81381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FFFFFF"/>
                </a:solidFill>
                <a:latin typeface="Lato"/>
              </a:defRPr>
            </a:pPr>
            <a:r>
              <a:t>A Multi-Agent LLM Framework for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FFFFFF"/>
                </a:solidFill>
                <a:latin typeface="Lato"/>
              </a:defRPr>
            </a:pPr>
            <a:r>
              <a:t>Controllable Traffic Scenario Generation in SUMO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4434840"/>
            <a:ext cx="475488" cy="41148"/>
          </a:xfrm>
          <a:prstGeom prst="rect">
            <a:avLst/>
          </a:prstGeom>
          <a:solidFill>
            <a:srgbClr val="64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64024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Lato"/>
              </a:defRPr>
            </a:pPr>
            <a:r>
              <a:t>Shuyang Li  ·  Ruimin 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34009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A9BCD0"/>
                </a:solidFill>
                <a:latin typeface="Lato"/>
              </a:defRPr>
            </a:pPr>
            <a:r>
              <a:t>Civil and Environmental Engineering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A9BCD0"/>
                </a:solidFill>
                <a:latin typeface="Lato"/>
              </a:defRPr>
            </a:pPr>
            <a:r>
              <a:t>Rensselaer Polytechnic Institute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08592" y="1097280"/>
            <a:ext cx="1389888" cy="475488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842248" y="1097280"/>
            <a:ext cx="466344" cy="1389888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058400" y="1572768"/>
            <a:ext cx="640080" cy="123444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42248" y="2487168"/>
            <a:ext cx="1216152" cy="32004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2807208"/>
            <a:ext cx="960120" cy="96012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42248" y="2487168"/>
            <a:ext cx="73152" cy="187452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915400" y="2807208"/>
            <a:ext cx="1143000" cy="155448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213848" y="3767328"/>
            <a:ext cx="804672" cy="1380744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15400" y="4361688"/>
            <a:ext cx="1298448" cy="786384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13848" y="5148072"/>
            <a:ext cx="1078992" cy="54864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842248" y="1097280"/>
            <a:ext cx="466344" cy="1389888"/>
          </a:xfrm>
          <a:prstGeom prst="line">
            <a:avLst/>
          </a:prstGeom>
          <a:ln w="31750">
            <a:solidFill>
              <a:srgbClr val="64D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42248" y="2487168"/>
            <a:ext cx="1216152" cy="320040"/>
          </a:xfrm>
          <a:prstGeom prst="line">
            <a:avLst/>
          </a:prstGeom>
          <a:ln w="31750">
            <a:solidFill>
              <a:srgbClr val="64D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15400" y="2807208"/>
            <a:ext cx="1143000" cy="1554480"/>
          </a:xfrm>
          <a:prstGeom prst="line">
            <a:avLst/>
          </a:prstGeom>
          <a:ln w="31750">
            <a:solidFill>
              <a:srgbClr val="64D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15400" y="4361688"/>
            <a:ext cx="1298448" cy="786384"/>
          </a:xfrm>
          <a:prstGeom prst="line">
            <a:avLst/>
          </a:prstGeom>
          <a:ln w="31750">
            <a:solidFill>
              <a:srgbClr val="64D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226296" y="1014983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16184" y="1490472"/>
            <a:ext cx="164592" cy="164592"/>
          </a:xfrm>
          <a:prstGeom prst="ellipse">
            <a:avLst/>
          </a:prstGeom>
          <a:solidFill>
            <a:srgbClr val="829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59952" y="2404872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76104" y="2724912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36224" y="3685032"/>
            <a:ext cx="164592" cy="164592"/>
          </a:xfrm>
          <a:prstGeom prst="ellipse">
            <a:avLst/>
          </a:prstGeom>
          <a:solidFill>
            <a:srgbClr val="829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33104" y="4279392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1552" y="5065776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210544" y="5614416"/>
            <a:ext cx="164592" cy="164592"/>
          </a:xfrm>
          <a:prstGeom prst="ellipse">
            <a:avLst/>
          </a:prstGeom>
          <a:solidFill>
            <a:srgbClr val="829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33104" y="5925312"/>
            <a:ext cx="2423160" cy="310896"/>
          </a:xfrm>
          <a:prstGeom prst="roundRect">
            <a:avLst>
              <a:gd name="adj" fmla="val 12000"/>
            </a:avLst>
          </a:prstGeom>
          <a:solidFill>
            <a:srgbClr val="1D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24544" y="5975604"/>
            <a:ext cx="2240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4D7C5"/>
                </a:solidFill>
                <a:latin typeface="Lato"/>
              </a:defRPr>
            </a:pPr>
            <a:r>
              <a:t>INTENT →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One traffic question spans an entire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original paper Fig. 1 (reproduced)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02</a:t>
            </a:r>
          </a:p>
        </p:txBody>
      </p:sp>
      <p:pic>
        <p:nvPicPr>
          <p:cNvPr id="9" name="Picture 8" descr="fig1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96253"/>
            <a:ext cx="7909560" cy="43261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87968" y="192024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185416"/>
            <a:ext cx="273405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Understand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679192"/>
            <a:ext cx="27340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A natural-language</a:t>
            </a:r>
          </a:p>
          <a:p>
            <a:pPr>
              <a:lnSpc>
                <a:spcPct val="102000"/>
              </a:lnSpc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traffic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338328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3648456"/>
            <a:ext cx="273405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Coordinate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4142232"/>
            <a:ext cx="27340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Network, demand,</a:t>
            </a:r>
          </a:p>
          <a:p>
            <a:pPr>
              <a:lnSpc>
                <a:spcPct val="102000"/>
              </a:lnSpc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execution,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48463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5111496"/>
            <a:ext cx="273405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Preserve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5605272"/>
            <a:ext cx="27340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Carry valid artifacts</a:t>
            </a:r>
          </a:p>
          <a:p>
            <a:pPr>
              <a:lnSpc>
                <a:spcPct val="102000"/>
              </a:lnSpc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across dependent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A single context must remember every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The paper’s baseline is a monolithic ReAct agent with all tools and execution history.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IV-A, IV-C, IV-E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76856"/>
            <a:ext cx="5852160" cy="3502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496312"/>
            <a:ext cx="2651760" cy="310896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46604"/>
            <a:ext cx="24688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363C6"/>
                </a:solidFill>
                <a:latin typeface="Lato"/>
              </a:defRPr>
            </a:pPr>
            <a:r>
              <a:t>ONE GROWING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108960"/>
            <a:ext cx="1874519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191256"/>
            <a:ext cx="163677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User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0944" y="3108960"/>
            <a:ext cx="1828800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9815" y="3191256"/>
            <a:ext cx="15910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Tool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739896"/>
            <a:ext cx="2167128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90472" y="3822191"/>
            <a:ext cx="192938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Network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739896"/>
            <a:ext cx="2322576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6472" y="3822191"/>
            <a:ext cx="20848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Route parameters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389120"/>
            <a:ext cx="2331720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471416"/>
            <a:ext cx="20939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Modified edges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389120"/>
            <a:ext cx="1920240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471416"/>
            <a:ext cx="16824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Retry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5020056"/>
            <a:ext cx="2148840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13432" y="5102352"/>
            <a:ext cx="191109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KPI outputs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05939" y="3557015"/>
            <a:ext cx="649225" cy="182881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95344" y="3557015"/>
            <a:ext cx="923544" cy="182881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080260" y="4187952"/>
            <a:ext cx="374904" cy="201168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389120" y="4187952"/>
            <a:ext cx="429768" cy="201168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80260" y="4837176"/>
            <a:ext cx="1188720" cy="18288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931152" y="2478024"/>
            <a:ext cx="128016" cy="128016"/>
          </a:xfrm>
          <a:prstGeom prst="ellipse">
            <a:avLst/>
          </a:prstGeom>
          <a:solidFill>
            <a:srgbClr val="A7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2322576"/>
            <a:ext cx="4261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Path reference errors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0336" y="2816352"/>
            <a:ext cx="41513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A downstream step points to the wrong file.</a:t>
            </a:r>
          </a:p>
        </p:txBody>
      </p:sp>
      <p:sp>
        <p:nvSpPr>
          <p:cNvPr id="35" name="Oval 34"/>
          <p:cNvSpPr/>
          <p:nvPr/>
        </p:nvSpPr>
        <p:spPr>
          <a:xfrm>
            <a:off x="6931152" y="3666744"/>
            <a:ext cx="128016" cy="128016"/>
          </a:xfrm>
          <a:prstGeom prst="ellipse">
            <a:avLst/>
          </a:prstGeom>
          <a:solidFill>
            <a:srgbClr val="A7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3511296"/>
            <a:ext cx="4261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Parameter inconsistency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0336" y="4005072"/>
            <a:ext cx="41513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Physical values drift across tool calls.</a:t>
            </a:r>
          </a:p>
        </p:txBody>
      </p:sp>
      <p:sp>
        <p:nvSpPr>
          <p:cNvPr id="38" name="Oval 37"/>
          <p:cNvSpPr/>
          <p:nvPr/>
        </p:nvSpPr>
        <p:spPr>
          <a:xfrm>
            <a:off x="6931152" y="4855464"/>
            <a:ext cx="128016" cy="128016"/>
          </a:xfrm>
          <a:prstGeom prst="ellipse">
            <a:avLst/>
          </a:prstGeom>
          <a:solidFill>
            <a:srgbClr val="A7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4700016"/>
            <a:ext cx="4261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Reasoning drift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0336" y="5193792"/>
            <a:ext cx="41513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Retries lose track of the original objective.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0076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78"/>
                </a:solidFill>
                <a:latin typeface="Lato"/>
              </a:defRPr>
            </a:pPr>
            <a:r>
              <a:t>Design question: which responsibilities should be explicit in the system?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METHOD 01 / ROLE SPECIALIZATION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Separate reasoning roles. Make state explicit.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original paper Fig. 2 (reproduced)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04</a:t>
            </a:r>
          </a:p>
        </p:txBody>
      </p:sp>
      <p:pic>
        <p:nvPicPr>
          <p:cNvPr id="10" name="Picture 9" descr="fig2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13" y="1655064"/>
            <a:ext cx="7752628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41664" y="1920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4" y="2185416"/>
            <a:ext cx="279806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400" b="1">
                <a:solidFill>
                  <a:srgbClr val="10243A"/>
                </a:solidFill>
                <a:latin typeface="Lato"/>
              </a:defRPr>
            </a:pPr>
            <a:r>
              <a:t>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664" y="2679192"/>
            <a:ext cx="27980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Turn intent into</a:t>
            </a:r>
          </a:p>
          <a:p>
            <a:pPr>
              <a:lnSpc>
                <a:spcPct val="102000"/>
              </a:lnSpc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an ordered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3832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3648456"/>
            <a:ext cx="279806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400" b="1">
                <a:solidFill>
                  <a:srgbClr val="10243A"/>
                </a:solidFill>
                <a:latin typeface="Lato"/>
              </a:defRPr>
            </a:pPr>
            <a:r>
              <a:t>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4" y="4142232"/>
            <a:ext cx="27980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Track artifacts</a:t>
            </a:r>
          </a:p>
          <a:p>
            <a:pPr>
              <a:lnSpc>
                <a:spcPct val="102000"/>
              </a:lnSpc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and dependencies.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4" y="48463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5111496"/>
            <a:ext cx="279806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400" b="1">
                <a:solidFill>
                  <a:srgbClr val="10243A"/>
                </a:solidFill>
                <a:latin typeface="Lato"/>
              </a:defRPr>
            </a:pPr>
            <a:r>
              <a:t>Workers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5605272"/>
            <a:ext cx="27980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Execute scoped tasks</a:t>
            </a:r>
          </a:p>
          <a:p>
            <a:pPr>
              <a:lnSpc>
                <a:spcPct val="102000"/>
              </a:lnSpc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through MCP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METHOD 02 / ARTIFACT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Route generation uses the validated network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Fig. 2, enlarged state layer; Sec. III-C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A closer look at the Orchestrator and persistent artifact repository.</a:t>
            </a:r>
          </a:p>
        </p:txBody>
      </p:sp>
      <p:pic>
        <p:nvPicPr>
          <p:cNvPr id="11" name="Picture 10" descr="fig2_stat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9359"/>
            <a:ext cx="10991088" cy="263243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0936" y="5111496"/>
            <a:ext cx="2578608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3036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78424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Original network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6976" y="5513832"/>
            <a:ext cx="146303" cy="0"/>
          </a:xfrm>
          <a:prstGeom prst="line">
            <a:avLst/>
          </a:prstGeom>
          <a:ln w="22860">
            <a:solidFill>
              <a:srgbClr val="007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429000" y="5111496"/>
            <a:ext cx="2578608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304" y="523036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Modifier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5678424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Closure applied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5513832"/>
            <a:ext cx="146304" cy="0"/>
          </a:xfrm>
          <a:prstGeom prst="line">
            <a:avLst/>
          </a:prstGeom>
          <a:ln w="22860">
            <a:solidFill>
              <a:srgbClr val="007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227064" y="5111496"/>
            <a:ext cx="2578608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523036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78424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Routes on updated network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33104" y="5513832"/>
            <a:ext cx="146304" cy="0"/>
          </a:xfrm>
          <a:prstGeom prst="line">
            <a:avLst/>
          </a:prstGeom>
          <a:ln w="22860">
            <a:solidFill>
              <a:srgbClr val="007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025128" y="5111496"/>
            <a:ext cx="2578608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523036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Runner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5678424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Matching network + routes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6080760"/>
            <a:ext cx="108813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800" b="1">
                <a:solidFill>
                  <a:srgbClr val="007F78"/>
                </a:solidFill>
                <a:latin typeface="Lato"/>
              </a:defRPr>
            </a:pPr>
            <a:r>
              <a:t>Dependency rule: apply topology changes before generating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METHOD /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The Planner turns intent into ordered contracts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original Fig. 3 details; full figure in backup B5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78308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Original user input</a:t>
            </a:r>
          </a:p>
        </p:txBody>
      </p:sp>
      <p:pic>
        <p:nvPicPr>
          <p:cNvPr id="11" name="Picture 10" descr="fig3_user_inpu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70311"/>
            <a:ext cx="6711696" cy="16864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4215384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Ordered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27448"/>
            <a:ext cx="635508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500" b="1">
                <a:solidFill>
                  <a:srgbClr val="10243A"/>
                </a:solidFill>
                <a:latin typeface="Lato"/>
              </a:defRPr>
            </a:pPr>
            <a:r>
              <a:t>Builder → Modifier → Demand</a:t>
            </a:r>
          </a:p>
          <a:p>
            <a:pPr>
              <a:lnSpc>
                <a:spcPct val="102000"/>
              </a:lnSpc>
              <a:spcAft>
                <a:spcPts val="300"/>
              </a:spcAft>
              <a:defRPr sz="2500" b="1">
                <a:solidFill>
                  <a:srgbClr val="10243A"/>
                </a:solidFill>
                <a:latin typeface="Lato"/>
              </a:defRPr>
            </a:pPr>
            <a:r>
              <a:t>→ Runner →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788152"/>
            <a:ext cx="6419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900" b="1">
                <a:solidFill>
                  <a:srgbClr val="007F78"/>
                </a:solidFill>
                <a:latin typeface="Lato"/>
              </a:defRPr>
            </a:pPr>
            <a:r>
              <a:t>One active role per step; explicit parameters.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1783080"/>
            <a:ext cx="35753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Network shown in Fig. 3</a:t>
            </a:r>
          </a:p>
        </p:txBody>
      </p:sp>
      <p:pic>
        <p:nvPicPr>
          <p:cNvPr id="16" name="Picture 15" descr="fig3_network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2250965"/>
            <a:ext cx="3703320" cy="34259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82712" y="587959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600" b="0">
                <a:solidFill>
                  <a:srgbClr val="55677B"/>
                </a:solidFill>
                <a:latin typeface="Lato"/>
              </a:defRPr>
            </a:pPr>
            <a:r>
              <a:t>Original paper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METHOD 03 /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Two feedback loops address two different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Execution repair handles tool failures; KPI feedback revisits the scenario objective.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III-B; Algorithm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24963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63347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0243A"/>
                </a:solidFill>
                <a:latin typeface="Lato"/>
              </a:defRPr>
            </a:pPr>
            <a: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313639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Decompose objective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468880"/>
            <a:ext cx="24963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263347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0243A"/>
                </a:solidFill>
                <a:latin typeface="Lato"/>
              </a:defRPr>
            </a:pPr>
            <a:r>
              <a:t>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313639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Workers +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468880"/>
            <a:ext cx="24963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263347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0243A"/>
                </a:solidFill>
                <a:latin typeface="Lato"/>
              </a:defRPr>
            </a:pPr>
            <a: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313639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Extract KPIs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47288" y="2962656"/>
            <a:ext cx="612648" cy="0"/>
          </a:xfrm>
          <a:prstGeom prst="line">
            <a:avLst/>
          </a:prstGeom>
          <a:ln w="2159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47688" y="2962656"/>
            <a:ext cx="612648" cy="0"/>
          </a:xfrm>
          <a:prstGeom prst="line">
            <a:avLst/>
          </a:prstGeom>
          <a:ln w="2159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65976" y="265176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677B"/>
                </a:solidFill>
                <a:latin typeface="Lato"/>
              </a:defRPr>
            </a:pPr>
            <a:r>
              <a:t>valid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48088" y="2962656"/>
            <a:ext cx="530352" cy="0"/>
          </a:xfrm>
          <a:prstGeom prst="line">
            <a:avLst/>
          </a:prstGeom>
          <a:ln w="21590">
            <a:solidFill>
              <a:srgbClr val="007F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442448" y="2642616"/>
            <a:ext cx="1005840" cy="658368"/>
          </a:xfrm>
          <a:prstGeom prst="roundRect">
            <a:avLst>
              <a:gd name="adj" fmla="val 12000"/>
            </a:avLst>
          </a:prstGeom>
          <a:solidFill>
            <a:srgbClr val="D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2798064"/>
            <a:ext cx="859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07F78"/>
                </a:solidFill>
                <a:latin typeface="Lato"/>
              </a:defRPr>
            </a:pPr>
            <a:r>
              <a:t>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29514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007F78"/>
                </a:solidFill>
                <a:latin typeface="Lato"/>
              </a:defRPr>
            </a:pPr>
            <a:r>
              <a:t>target met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67528" y="3538728"/>
            <a:ext cx="0" cy="713232"/>
          </a:xfrm>
          <a:prstGeom prst="line">
            <a:avLst/>
          </a:prstGeom>
          <a:ln w="21590">
            <a:solidFill>
              <a:srgbClr val="A568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148840" y="4251960"/>
            <a:ext cx="3218688" cy="0"/>
          </a:xfrm>
          <a:prstGeom prst="line">
            <a:avLst/>
          </a:prstGeom>
          <a:ln w="21590">
            <a:solidFill>
              <a:srgbClr val="A568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148840" y="3547872"/>
            <a:ext cx="0" cy="704088"/>
          </a:xfrm>
          <a:prstGeom prst="line">
            <a:avLst/>
          </a:prstGeom>
          <a:ln w="21590">
            <a:solidFill>
              <a:srgbClr val="A5680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2104" y="4489704"/>
            <a:ext cx="5669280" cy="310896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453999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A56805"/>
                </a:solidFill>
                <a:latin typeface="Lato"/>
              </a:defRPr>
            </a:pPr>
            <a:r>
              <a:t>1  EXECUTION ERROR → STRUCTURED FEEDBACK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3538728"/>
            <a:ext cx="0" cy="1691640"/>
          </a:xfrm>
          <a:prstGeom prst="line">
            <a:avLst/>
          </a:prstGeom>
          <a:ln w="21590">
            <a:solidFill>
              <a:srgbClr val="236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225296" y="5230368"/>
            <a:ext cx="7342632" cy="0"/>
          </a:xfrm>
          <a:prstGeom prst="line">
            <a:avLst/>
          </a:prstGeom>
          <a:ln w="21590">
            <a:solidFill>
              <a:srgbClr val="236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225296" y="3547872"/>
            <a:ext cx="0" cy="1682496"/>
          </a:xfrm>
          <a:prstGeom prst="line">
            <a:avLst/>
          </a:prstGeom>
          <a:ln w="21590">
            <a:solidFill>
              <a:srgbClr val="2363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2104" y="5504688"/>
            <a:ext cx="4590288" cy="310896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5554979"/>
            <a:ext cx="44074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363C6"/>
                </a:solidFill>
                <a:latin typeface="Lato"/>
              </a:defRPr>
            </a:pPr>
            <a:r>
              <a:t>2  KPI TARGET UNMET → REPLAN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837176"/>
            <a:ext cx="2386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Bounded attempts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Stop on success or budget 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EVALUATION /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30 tasks test increasing dependency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SUMO 1.21.0  ·  Qwen3-30B-Coder  ·  monolithic ReAct vs. the proposed framework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IV-A, IV-B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295144"/>
            <a:ext cx="3474720" cy="2167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" y="2496312"/>
            <a:ext cx="521207" cy="310896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546604"/>
            <a:ext cx="3383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363C6"/>
                </a:solidFill>
                <a:latin typeface="Lato"/>
              </a:defRPr>
            </a:pPr>
            <a: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026664"/>
            <a:ext cx="312724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0243A"/>
                </a:solidFill>
                <a:latin typeface="Lato"/>
              </a:defRPr>
            </a:pPr>
            <a:r>
              <a:t>Basic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685032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Build a geographic network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+ qualitative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295144"/>
            <a:ext cx="3474720" cy="2167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44568" y="2496312"/>
            <a:ext cx="521207" cy="310896"/>
          </a:xfrm>
          <a:prstGeom prst="roundRect">
            <a:avLst>
              <a:gd name="adj" fmla="val 12000"/>
            </a:avLst>
          </a:prstGeom>
          <a:solidFill>
            <a:srgbClr val="D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2546604"/>
            <a:ext cx="3383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026664"/>
            <a:ext cx="312724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0243A"/>
                </a:solidFill>
                <a:latin typeface="Lato"/>
              </a:defRPr>
            </a:pPr>
            <a:r>
              <a:t>Intermediate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685032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Specify origin–destination flow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+ align tool 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0727" y="2295144"/>
            <a:ext cx="3474720" cy="2167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93607" y="2496312"/>
            <a:ext cx="521207" cy="310896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2546604"/>
            <a:ext cx="3383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A56805"/>
                </a:solidFill>
                <a:latin typeface="Lato"/>
              </a:defRPr>
            </a:pPr>
            <a: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3026664"/>
            <a:ext cx="312724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0243A"/>
                </a:solidFill>
                <a:latin typeface="Lato"/>
              </a:defRPr>
            </a:pPr>
            <a:r>
              <a:t>Complex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3685032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Modify network topology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before demand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846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007F78"/>
                </a:solidFill>
                <a:latin typeface="Lato"/>
              </a:defRPr>
            </a:pPr>
            <a:r>
              <a:t>WHAT IS MEASURED?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385816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Success rate 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52160"/>
            <a:ext cx="34564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55677B"/>
                </a:solidFill>
                <a:latin typeface="Lato"/>
              </a:defRPr>
            </a:pPr>
            <a:r>
              <a:t>Valid configuration + error-free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7" y="5385816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Average tokens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5852160"/>
            <a:ext cx="34564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55677B"/>
                </a:solidFill>
                <a:latin typeface="Lato"/>
              </a:defRPr>
            </a:pPr>
            <a:r>
              <a:t>Total LLM input + output tokens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5385816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Time-to-Insight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5852160"/>
            <a:ext cx="34564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55677B"/>
                </a:solidFill>
                <a:latin typeface="Lato"/>
              </a:defRPr>
            </a:pPr>
            <a:r>
              <a:t>User request → first valid KPI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RESULTS / ARCHITECTURE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Complex-task success rises from 70% to 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Success rate by task complexity (%) 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I; Sec. IV-C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148840"/>
            <a:ext cx="146304" cy="146304"/>
          </a:xfrm>
          <a:prstGeom prst="rect">
            <a:avLst/>
          </a:prstGeom>
          <a:solidFill>
            <a:srgbClr val="829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1226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Monolithic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4096" y="2148840"/>
            <a:ext cx="146304" cy="146304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39" y="21122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Multi-agent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12648" y="2606040"/>
          <a:ext cx="6967728" cy="3081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46720" y="2185416"/>
            <a:ext cx="3493008" cy="3502152"/>
          </a:xfrm>
          <a:prstGeom prst="roundRect">
            <a:avLst>
              <a:gd name="adj" fmla="val 12000"/>
            </a:avLst>
          </a:prstGeom>
          <a:solidFill>
            <a:srgbClr val="D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432304"/>
            <a:ext cx="29718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L3 / COMPLEX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026664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6500" b="1">
                <a:solidFill>
                  <a:srgbClr val="007F78"/>
                </a:solidFill>
                <a:latin typeface="Lato"/>
              </a:defRPr>
            </a:pPr>
            <a:r>
              <a:t>+20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133087"/>
            <a:ext cx="28986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007F78"/>
                </a:solidFill>
                <a:latin typeface="Lato"/>
              </a:defRPr>
            </a:pPr>
            <a:r>
              <a:t>percentage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782312"/>
            <a:ext cx="28620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The gain is concentrated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in harder workflows.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016752"/>
            <a:ext cx="10945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L1 is 10 points lower; L2 is unchanged. Role separation helps most when dependencies grow.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RESULTS /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Fewer tokens and a shorter path to the first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Reported averages in the architecture comparison; lower is better.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I; percentages and ratios calculated from reported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2139696"/>
            <a:ext cx="146304" cy="146304"/>
          </a:xfrm>
          <a:prstGeom prst="rect">
            <a:avLst/>
          </a:prstGeom>
          <a:solidFill>
            <a:srgbClr val="829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031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Monolithic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8376" y="2139696"/>
            <a:ext cx="146304" cy="146304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103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Multi-agent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615184"/>
            <a:ext cx="5349240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7064" y="2615184"/>
            <a:ext cx="5349240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798064"/>
            <a:ext cx="48188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0243A"/>
                </a:solidFill>
                <a:latin typeface="Lato"/>
              </a:defRPr>
            </a:pPr>
            <a:r>
              <a:t>Average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980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0243A"/>
                </a:solidFill>
                <a:latin typeface="Lato"/>
              </a:defRPr>
            </a:pPr>
            <a:r>
              <a:t>Time-to-Insight (seconds)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94944" y="3218688"/>
          <a:ext cx="5093208" cy="24140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300216" y="3218688"/>
          <a:ext cx="5093208" cy="24140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68680" y="5971032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L3: 47.1% fewer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971032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007F78"/>
                </a:solidFill>
                <a:latin typeface="Lato"/>
              </a:defRPr>
            </a:pPr>
            <a:r>
              <a:t>L3: 41.4 s → 8.3 s  /  ≈5.0× speedup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RESULTS / REPAIR-BUDGET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One repair attempt helps; a second adds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Separate experiment: compare 0, 1, and 2 maximum repair attempts within Table II.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II; Sec. IV-D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185416"/>
            <a:ext cx="603504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L2 and L3 success rate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13232" y="2724912"/>
          <a:ext cx="6016752" cy="28072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59536" y="5623560"/>
            <a:ext cx="5797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L2 and L3 have identical reported success 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14616" y="2185416"/>
            <a:ext cx="4315968" cy="3621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2432304"/>
            <a:ext cx="384962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L3 average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1504" y="3145536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0 repairs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3145536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3,981.6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4" y="3794760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1 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379476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6,609.9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4443983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2 repairs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4443983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9,214.1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5230368"/>
            <a:ext cx="3913632" cy="393192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5312664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A56805"/>
                </a:solidFill>
                <a:latin typeface="Lato"/>
              </a:defRPr>
            </a:pPr>
            <a:r>
              <a:t>More retries ≠ higher success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08076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Simple L1 tasks: 90% → 80% → 90%; unnecessary repair can misread benign warnings.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What this evidence establishes—and what remains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A promising workflow result with a bounded empirical scope.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IV–V; reporting limitations identified from the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5303520" cy="3502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50292" cy="3502152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478024"/>
            <a:ext cx="49011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Supported by this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118104"/>
            <a:ext cx="4901183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  <a:r>
              <a:t>Higher L3 execution success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  <a:r>
              <a:t>Lower tokens and reported TTI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  <a:r>
              <a:t>Recovery gains with one 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286000"/>
            <a:ext cx="5303520" cy="3502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2286000"/>
            <a:ext cx="50292" cy="3502152"/>
          </a:xfrm>
          <a:prstGeom prst="rect">
            <a:avLst/>
          </a:prstGeom>
          <a:solidFill>
            <a:srgbClr val="236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2478024"/>
            <a:ext cx="49011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363C6"/>
                </a:solidFill>
                <a:latin typeface="Lato"/>
              </a:defRPr>
            </a:pPr>
            <a:r>
              <a:t>Open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118104"/>
            <a:ext cx="4901183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  <a:r>
              <a:t>30 tasks; one evaluated backbone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  <a:r>
              <a:t>Components not isolated individually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  <a:r>
              <a:t>KPI optimization lacks a quantitative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  <a:r>
              <a:t>convergence or optimality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78"/>
                </a:solidFill>
                <a:latin typeface="Lato"/>
              </a:defRPr>
            </a:pPr>
            <a:r>
              <a:t>Next: broader benchmarks, component-level ablations, and measured KPI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64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4D7C5"/>
                </a:solidFill>
                <a:latin typeface="Lato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FFFFFF"/>
                </a:solidFill>
                <a:latin typeface="Lato"/>
              </a:defRPr>
            </a:pPr>
            <a:r>
              <a:t>Reliable automation needs explicit coordination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9BCD0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9BCD0"/>
                </a:solidFill>
                <a:latin typeface="Lato"/>
              </a:defRPr>
            </a:pPr>
            <a:r>
              <a:t>Evidence: Table I, complex tasks (L3)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A9BCD0"/>
                </a:solidFill>
                <a:latin typeface="Lato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9751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FFFFFF"/>
                </a:solidFill>
                <a:latin typeface="Lato"/>
              </a:defRPr>
            </a:pPr>
            <a:r>
              <a:t>Specialized reasoning  +  persistent artifacts  +  bounded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72384"/>
            <a:ext cx="3611880" cy="2130552"/>
          </a:xfrm>
          <a:prstGeom prst="roundRect">
            <a:avLst>
              <a:gd name="adj" fmla="val 12000"/>
            </a:avLst>
          </a:prstGeom>
          <a:solidFill>
            <a:srgbClr val="1D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19272"/>
            <a:ext cx="315468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5700" b="1">
                <a:solidFill>
                  <a:srgbClr val="64D7C5"/>
                </a:solidFill>
                <a:latin typeface="Lato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315968"/>
            <a:ext cx="3108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Lato"/>
              </a:defRPr>
            </a:pPr>
            <a:r>
              <a:t>L3 task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855464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A9BCD0"/>
                </a:solidFill>
                <a:latin typeface="Lato"/>
              </a:defRPr>
            </a:pPr>
            <a:r>
              <a:t>70% monolithic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3072384"/>
            <a:ext cx="3611880" cy="2130552"/>
          </a:xfrm>
          <a:prstGeom prst="roundRect">
            <a:avLst>
              <a:gd name="adj" fmla="val 12000"/>
            </a:avLst>
          </a:prstGeom>
          <a:solidFill>
            <a:srgbClr val="1D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3319272"/>
            <a:ext cx="315468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5700" b="1">
                <a:solidFill>
                  <a:srgbClr val="64D7C5"/>
                </a:solidFill>
                <a:latin typeface="Lato"/>
              </a:defRPr>
            </a:pPr>
            <a:r>
              <a:t>−47%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4315968"/>
            <a:ext cx="3108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Lato"/>
              </a:defRPr>
            </a:pPr>
            <a:r>
              <a:t>L3 token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4855464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A9BCD0"/>
                </a:solidFill>
                <a:latin typeface="Lato"/>
              </a:defRPr>
            </a:pPr>
            <a:r>
              <a:t>11,404.7 → 6,028.7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3072384"/>
            <a:ext cx="3611880" cy="2130552"/>
          </a:xfrm>
          <a:prstGeom prst="roundRect">
            <a:avLst>
              <a:gd name="adj" fmla="val 12000"/>
            </a:avLst>
          </a:prstGeom>
          <a:solidFill>
            <a:srgbClr val="1D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3319272"/>
            <a:ext cx="315468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5700" b="1">
                <a:solidFill>
                  <a:srgbClr val="64D7C5"/>
                </a:solidFill>
                <a:latin typeface="Lato"/>
              </a:defRPr>
            </a:pPr>
            <a:r>
              <a:t>≈5×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3" y="4315968"/>
            <a:ext cx="3108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Lato"/>
              </a:defRPr>
            </a:pPr>
            <a:r>
              <a:t>L3 TTI speedup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4855464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A9BCD0"/>
                </a:solidFill>
                <a:latin typeface="Lato"/>
              </a:defRPr>
            </a:pPr>
            <a:r>
              <a:t>41.4 s → 8.3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769864"/>
            <a:ext cx="1092708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FFFFFF"/>
                </a:solidFill>
                <a:latin typeface="Lato"/>
              </a:defRPr>
            </a:pPr>
            <a:r>
              <a:t>Natural-language objectives → executable, inspectable SUMO workflows.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64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4D7C5"/>
                </a:solidFill>
                <a:latin typeface="Lato"/>
              </a:defRPr>
            </a:pPr>
            <a:r>
              <a:t>DISCUSSION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FFFFFF"/>
                </a:solidFill>
                <a:latin typeface="Lato"/>
              </a:defRPr>
            </a:pPr>
            <a:r>
              <a:t>Thank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9BCD0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A9BCD0"/>
                </a:solidFill>
                <a:latin typeface="Lato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48840"/>
            <a:ext cx="9875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5800" b="1">
                <a:solidFill>
                  <a:srgbClr val="FFFFFF"/>
                </a:solidFill>
                <a:latin typeface="Lato"/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67328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64D7C5"/>
                </a:solidFill>
                <a:latin typeface="Lato"/>
              </a:defRPr>
            </a:pPr>
            <a:r>
              <a:t>Decoupled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562856"/>
            <a:ext cx="9875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Lato"/>
              </a:defRPr>
            </a:pPr>
            <a:r>
              <a:t>Shuyang Li  ·  Ruimin Ke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Lato"/>
              </a:defRPr>
            </a:pPr>
            <a:r>
              <a:t>Rensselaer Polytechnic Institute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5888736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A9BCD0"/>
                </a:solidFill>
                <a:latin typeface="Lato"/>
              </a:defRPr>
            </a:pPr>
            <a:r>
              <a:t>Supported by the IBM–RPI Future of Computing Research Collaboration.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BACKUP B1 / ARCHITECTURE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Full results: monolithic vs.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Exact values from Table I. ↑ Higher is better; ↓ lower is better.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B1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2286000"/>
          <a:ext cx="1084478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520440"/>
                <a:gridCol w="2382012"/>
                <a:gridCol w="2382012"/>
              </a:tblGrid>
              <a:tr h="352044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Complexity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Metric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Monolithic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Multi-agent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L1 · Basic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100.0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90.0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8,529.2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4,845.5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TTI (s) ↓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19.8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6.2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L2 · Intermediate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100.0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100.0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9,690.3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5,310.1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TTI (s)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22.7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7.3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L3 · Complex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70.0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90.0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11,404.7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6,028.7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TTI (s) ↓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41.4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8.3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2376" y="6080760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Overall architecture comparison; individual components are not isolated in this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BACKUP B2 / REPAIR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Full results: the repair-budget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Exact values from Table II. Compare repair budgets within this experiment.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II; Sec. IV-D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B2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2377440"/>
          <a:ext cx="10844784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788920"/>
                <a:gridCol w="1847088"/>
                <a:gridCol w="1847088"/>
                <a:gridCol w="1847088"/>
              </a:tblGrid>
              <a:tr h="42976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Complexity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Metric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0 repairs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1 repair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2 repairs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L1 · Basic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90.0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80.0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90.0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4,969.1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5,530.3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6,752.6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L2 · Intermediate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30.0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50.0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50.0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3,601.6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6,829.5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8,484.8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L3 · Complex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30.0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50.0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50.0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3,981.6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6,609.9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9,214.1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76656" y="5650992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742432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A56805"/>
                </a:solidFill>
                <a:latin typeface="Lato"/>
              </a:defRPr>
            </a:pPr>
            <a:r>
              <a:t>No additional L2/L3 success gain from a second attempt; token use continues to rise.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BACKUP B3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What each worker receives and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Role contracts and artifact dependencies, simplified from the methodology and prompt appendices.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III-C; Appendix II–III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B3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2340864"/>
          <a:ext cx="10853928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57600"/>
                <a:gridCol w="3081528"/>
                <a:gridCol w="2651760"/>
              </a:tblGrid>
              <a:tr h="48463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Worker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Required context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Responsibility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Output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Builder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City / geographic extent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Build network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.net.xml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Modifier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Network + requested edit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Apply topology / TLS edit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Updated .net.xml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Demand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Validated network + flow / O–D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Generate matching demand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.rou.xml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Runner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Network + routes + run settings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Configure and execute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.sumocfg + outputs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Analyst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Simulation outputs + metric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Aggregate KPIs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Metrics + feedback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7512" y="5486400"/>
            <a:ext cx="5230368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5660136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78"/>
                </a:solidFill>
                <a:latin typeface="Lato"/>
              </a:defRPr>
            </a:pPr>
            <a:r>
              <a:t>One active role per planned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5660136"/>
            <a:ext cx="5056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78"/>
                </a:solidFill>
                <a:latin typeface="Lato"/>
              </a:defRPr>
            </a:pPr>
            <a:r>
              <a:t>Skip Modifier when no edit is requested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BACKUP B4 /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Answers to likely design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III–V; Table I–II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B4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865376"/>
            <a:ext cx="10835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02536"/>
            <a:ext cx="3858768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Why not a stronger single agent?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11680"/>
            <a:ext cx="62727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This study compares one backbone and one monolithic ReAct design. Broader baselines remain to be tested.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2926080"/>
            <a:ext cx="10835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063240"/>
            <a:ext cx="3858768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Does MCP itself prevent path errors?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072384"/>
            <a:ext cx="62727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MCP standardizes tool access. The Orchestrator manages validated artifact references and dependencies.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986783"/>
            <a:ext cx="10835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123944"/>
            <a:ext cx="3858768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Is traffic KPI optimization proven?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133087"/>
            <a:ext cx="62727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The feedback mechanism is designed for it. Reported quantitative results focus on execution and repair.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5047488"/>
            <a:ext cx="10835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184648"/>
            <a:ext cx="3858768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Do more agents or retries always help?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5193792"/>
            <a:ext cx="62727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No. L1 success is lower in Table I; a second repair adds tokens without improving L2/L3 success in Table II.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BACKUP B5 / ORIGINAL PAPER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13816"/>
            <a:ext cx="111556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Original Planner workflow from the paper</a:t>
            </a:r>
          </a:p>
        </p:txBody>
      </p:sp>
      <p:pic>
        <p:nvPicPr>
          <p:cNvPr id="4" name="Picture 3" descr="fig3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65" y="1664208"/>
            <a:ext cx="1104447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528816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paper Fig. 3, reproduced without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B5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Decoupled Intelligence: A Multi-Agent LLM Framework for Controllable Traffic Scenario Generation in SUMO</dc:title>
  <dc:subject>ITSC oral presentation draft; 12–15 minutes</dc:subject>
  <dc:creator>Shuyang Li; Ruimin Ke</dc:creator>
  <cp:keywords>SUMO, LLM, multi-agent, ITSC, traffic simulation</cp:keywords>
  <dc:description>Version 2: includes original paper Figures 1–3 and enlarged details.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